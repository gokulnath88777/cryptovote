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358" r:id="rId5"/>
    <p:sldId id="257" r:id="rId6"/>
    <p:sldId id="366" r:id="rId7"/>
    <p:sldId id="368" r:id="rId8"/>
    <p:sldId id="370" r:id="rId9"/>
    <p:sldId id="369" r:id="rId10"/>
    <p:sldId id="352" r:id="rId11"/>
    <p:sldId id="265" r:id="rId12"/>
    <p:sldId id="371" r:id="rId13"/>
    <p:sldId id="350" r:id="rId14"/>
    <p:sldId id="277" r:id="rId15"/>
    <p:sldId id="363" r:id="rId16"/>
    <p:sldId id="353" r:id="rId17"/>
    <p:sldId id="364" r:id="rId18"/>
    <p:sldId id="267" r:id="rId19"/>
    <p:sldId id="372" r:id="rId20"/>
    <p:sldId id="373" r:id="rId21"/>
    <p:sldId id="35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12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2D6F6-D493-4C88-90D4-60CB32AEE7EA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C5FA7-27CF-4A14-85C2-F36FA8ABDE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4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8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1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8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8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8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3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3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7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AB8EE-54F9-4CA0-9648-7541175832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3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700D9B8-26B8-F198-34A3-4C42C8EA02BD}"/>
              </a:ext>
            </a:extLst>
          </p:cNvPr>
          <p:cNvSpPr txBox="1"/>
          <p:nvPr/>
        </p:nvSpPr>
        <p:spPr>
          <a:xfrm>
            <a:off x="1554778" y="2511043"/>
            <a:ext cx="9343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CRYPTOVOTE: BLOCKCHAIN-INSPIRED E-VOTING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9A9CA-1F13-91C6-25C3-A723B04EBDBA}"/>
              </a:ext>
            </a:extLst>
          </p:cNvPr>
          <p:cNvSpPr txBox="1"/>
          <p:nvPr/>
        </p:nvSpPr>
        <p:spPr>
          <a:xfrm>
            <a:off x="6950652" y="4554490"/>
            <a:ext cx="393817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 K                       [22CS061]</a:t>
            </a:r>
            <a:b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GIRIDHARAN P		     [22CS074]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GOKULNATH K		     [22CS078]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8209F-12B6-0D6E-2240-B8FDC43AD0DD}"/>
              </a:ext>
            </a:extLst>
          </p:cNvPr>
          <p:cNvSpPr txBox="1"/>
          <p:nvPr/>
        </p:nvSpPr>
        <p:spPr>
          <a:xfrm>
            <a:off x="6936132" y="4142407"/>
            <a:ext cx="275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17403-37BC-F70E-A663-1BEC3282D4E9}"/>
              </a:ext>
            </a:extLst>
          </p:cNvPr>
          <p:cNvSpPr txBox="1"/>
          <p:nvPr/>
        </p:nvSpPr>
        <p:spPr>
          <a:xfrm>
            <a:off x="1052512" y="4142407"/>
            <a:ext cx="2314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15AB-4EF1-3B33-EEA2-9035622B3C28}"/>
              </a:ext>
            </a:extLst>
          </p:cNvPr>
          <p:cNvSpPr txBox="1"/>
          <p:nvPr/>
        </p:nvSpPr>
        <p:spPr>
          <a:xfrm>
            <a:off x="1052512" y="4558739"/>
            <a:ext cx="452719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 err="1">
                <a:latin typeface="Times New Roman" pitchFamily="18" charset="0"/>
                <a:cs typeface="Times New Roman" pitchFamily="18" charset="0"/>
              </a:rPr>
              <a:t>Mrs.K.GANDHIMATHI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M.E., (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)., ASSISTANT PROFESSOR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ABF25-8792-35C4-329A-A725EC32C248}"/>
              </a:ext>
            </a:extLst>
          </p:cNvPr>
          <p:cNvSpPr txBox="1"/>
          <p:nvPr/>
        </p:nvSpPr>
        <p:spPr>
          <a:xfrm>
            <a:off x="2348346" y="1713300"/>
            <a:ext cx="7938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II REVIEW</a:t>
            </a:r>
          </a:p>
        </p:txBody>
      </p:sp>
      <p:pic>
        <p:nvPicPr>
          <p:cNvPr id="11" name="Google Shape;96;p13" descr="Results - Muthayammal Engineering College">
            <a:extLst>
              <a:ext uri="{FF2B5EF4-FFF2-40B4-BE49-F238E27FC236}">
                <a16:creationId xmlns:a16="http://schemas.microsoft.com/office/drawing/2014/main" id="{48C220F1-0234-F57B-D69C-91ED175F41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023" y="325912"/>
            <a:ext cx="10074838" cy="105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5;p13" descr="Anna University - Wikipedia">
            <a:extLst>
              <a:ext uri="{FF2B5EF4-FFF2-40B4-BE49-F238E27FC236}">
                <a16:creationId xmlns:a16="http://schemas.microsoft.com/office/drawing/2014/main" id="{A0642A59-C9FA-3F81-B451-90EB00A2EC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328" y="325911"/>
            <a:ext cx="1051297" cy="10559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3526970" y="5887616"/>
            <a:ext cx="583163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PROJECT PHASE II REVIEW : 29/04/2026</a:t>
            </a:r>
          </a:p>
        </p:txBody>
      </p:sp>
    </p:spTree>
    <p:extLst>
      <p:ext uri="{BB962C8B-B14F-4D97-AF65-F5344CB8AC3E}">
        <p14:creationId xmlns:p14="http://schemas.microsoft.com/office/powerpoint/2010/main" val="213447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7161-0C80-7BB8-8819-6C92CA54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71" y="88491"/>
            <a:ext cx="3342968" cy="867358"/>
          </a:xfrm>
        </p:spPr>
        <p:txBody>
          <a:bodyPr anchor="b">
            <a:normAutofit/>
          </a:bodyPr>
          <a:lstStyle/>
          <a:p>
            <a:pPr algn="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40B6FC-7354-DA3C-AD4A-C0B4A83180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993" y="1418252"/>
            <a:ext cx="11000013" cy="47227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Secure and transparent electronic voting is essential for maintaining trust in elections, yet traditional voting systems rely heavily on centralized control, making them vulnerable to manipulation.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Existing e-voting platforms often face issues such as vote tampering, data manipulation, and lack of transparency, which reduce voter confidence and trust in the electoral process.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project presents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CryptoVote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-inspired e-voting system designed to ensure transparency, security, and tamper-proof elections.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vote is converted into a cryptographically secure block and linked sequentially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SHA-256 hashing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forming an immutable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that guarantees data integrity and confidentiality.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provides a secure web-based interface for voter authentication, vote casting, transaction verification, and generates accurate, auditable election results directly from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records using Python,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JSON-based storage.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0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BD08-6D34-A63C-DD16-BD30D704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18" y="365126"/>
            <a:ext cx="10986098" cy="677661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EDF7AD28-D986-EDBB-6052-AC842876C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327" y="1042786"/>
            <a:ext cx="10769346" cy="5108631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Existing electronic voting systems rely on centralized databases that are vulnerable to manipulation and single-point failures.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Traditional online voting platforms lack strong mechanisms to ensure vote integrity, transparency, and tamper resistance.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Manual supervision and centralized control reduce voter trust and increase the risk of fraud and unauthorized access.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Due to these limitations: vote manipulation is possible, transparency is low,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auditability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limited, and result verification is unreliable.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a pressing need for a secure, transparent, and tamper-proof e-voting system that ensures voter authenticity, vote integrity, and reliable election outcomes.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40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785A-5DE0-67A2-4471-9D7E49432F96}"/>
              </a:ext>
            </a:extLst>
          </p:cNvPr>
          <p:cNvSpPr txBox="1">
            <a:spLocks/>
          </p:cNvSpPr>
          <p:nvPr/>
        </p:nvSpPr>
        <p:spPr>
          <a:xfrm>
            <a:off x="3404418" y="304726"/>
            <a:ext cx="6029959" cy="7520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677E85-DF94-CFEF-49C3-A353EE343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9487"/>
              </p:ext>
            </p:extLst>
          </p:nvPr>
        </p:nvGraphicFramePr>
        <p:xfrm>
          <a:off x="1199535" y="1229032"/>
          <a:ext cx="9812594" cy="4650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02">
                  <a:extLst>
                    <a:ext uri="{9D8B030D-6E8A-4147-A177-3AD203B41FA5}">
                      <a16:colId xmlns:a16="http://schemas.microsoft.com/office/drawing/2014/main" val="537066212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49408653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018222351"/>
                    </a:ext>
                  </a:extLst>
                </a:gridCol>
                <a:gridCol w="2515938">
                  <a:extLst>
                    <a:ext uri="{9D8B030D-6E8A-4147-A177-3AD203B41FA5}">
                      <a16:colId xmlns:a16="http://schemas.microsoft.com/office/drawing/2014/main" val="1829323281"/>
                    </a:ext>
                  </a:extLst>
                </a:gridCol>
              </a:tblGrid>
              <a:tr h="1550219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Author Names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&amp;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Publication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         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Advantage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Problem Identified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28327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sv-SE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sv-S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G. Saleh, H. A. Danang Rimbawa (2025)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e-voting system combining blockchain with GPS-based polling station ver</a:t>
                      </a:r>
                      <a:r>
                        <a:rPr lang="en-IN" dirty="0"/>
                        <a:t>ification</a:t>
                      </a:r>
                      <a:br>
                        <a:rPr lang="en-IN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election integrity by ensuring voters are physically present at valid 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GPS infrastructure and additional hardware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52929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fi-FI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fi-FI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Kiashemshaki, M. Jalili Torkamani et al. (2025)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voting with hybrid consensus and lightweight cryptography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scalability and efficiency of blockchain voting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faces complexity in implementation and system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19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79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785A-5DE0-67A2-4471-9D7E49432F96}"/>
              </a:ext>
            </a:extLst>
          </p:cNvPr>
          <p:cNvSpPr txBox="1">
            <a:spLocks/>
          </p:cNvSpPr>
          <p:nvPr/>
        </p:nvSpPr>
        <p:spPr>
          <a:xfrm>
            <a:off x="3404418" y="304726"/>
            <a:ext cx="6029959" cy="7520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677E85-DF94-CFEF-49C3-A353EE343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59494"/>
              </p:ext>
            </p:extLst>
          </p:nvPr>
        </p:nvGraphicFramePr>
        <p:xfrm>
          <a:off x="1199535" y="1229032"/>
          <a:ext cx="9812594" cy="4650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02">
                  <a:extLst>
                    <a:ext uri="{9D8B030D-6E8A-4147-A177-3AD203B41FA5}">
                      <a16:colId xmlns:a16="http://schemas.microsoft.com/office/drawing/2014/main" val="537066212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49408653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018222351"/>
                    </a:ext>
                  </a:extLst>
                </a:gridCol>
                <a:gridCol w="2515938">
                  <a:extLst>
                    <a:ext uri="{9D8B030D-6E8A-4147-A177-3AD203B41FA5}">
                      <a16:colId xmlns:a16="http://schemas.microsoft.com/office/drawing/2014/main" val="1829323281"/>
                    </a:ext>
                  </a:extLst>
                </a:gridCol>
              </a:tblGrid>
              <a:tr h="1550219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Author Names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&amp;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Year of Publication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         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Advantage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Problem Identified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28327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sv-SE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sv-SE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Tahboub, A. Revilla, J. Lynch (2025)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blockchain system using private blockchain with public chain anchoring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voter anonymity while maintaining verifiability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centralization reduces full decentralization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52929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da-DK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da-DK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Poudel, U. Poudel et al. (2025)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Quantum-secure blockchain voting with biometric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future-proof security against quantum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and need for advanced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19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80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785A-5DE0-67A2-4471-9D7E49432F96}"/>
              </a:ext>
            </a:extLst>
          </p:cNvPr>
          <p:cNvSpPr txBox="1">
            <a:spLocks/>
          </p:cNvSpPr>
          <p:nvPr/>
        </p:nvSpPr>
        <p:spPr>
          <a:xfrm>
            <a:off x="3404418" y="304726"/>
            <a:ext cx="6029959" cy="7520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677E85-DF94-CFEF-49C3-A353EE343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086"/>
              </p:ext>
            </p:extLst>
          </p:nvPr>
        </p:nvGraphicFramePr>
        <p:xfrm>
          <a:off x="1189703" y="1229032"/>
          <a:ext cx="9822426" cy="4650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434">
                  <a:extLst>
                    <a:ext uri="{9D8B030D-6E8A-4147-A177-3AD203B41FA5}">
                      <a16:colId xmlns:a16="http://schemas.microsoft.com/office/drawing/2014/main" val="537066212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49408653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4018222351"/>
                    </a:ext>
                  </a:extLst>
                </a:gridCol>
                <a:gridCol w="2515938">
                  <a:extLst>
                    <a:ext uri="{9D8B030D-6E8A-4147-A177-3AD203B41FA5}">
                      <a16:colId xmlns:a16="http://schemas.microsoft.com/office/drawing/2014/main" val="1829323281"/>
                    </a:ext>
                  </a:extLst>
                </a:gridCol>
              </a:tblGrid>
              <a:tr h="1550219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Author Names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&amp;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Year of Publication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         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Advantage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Problem Identified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28327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da-DK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da-DK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Somasekhar et      al. (2024)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digital voting integrated with distributed ledger and 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transparency, integrity, and reliability of voting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challenges in large-scale elections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52929"/>
                  </a:ext>
                </a:extLst>
              </a:tr>
              <a:tr h="1550219">
                <a:tc>
                  <a:txBody>
                    <a:bodyPr/>
                    <a:lstStyle/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M. Sharp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blockchain e-voting system with advanced counting methods (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Borda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Condorcet)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accuracy and reliability of election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system design and implementation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19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17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76A30-4E1A-2DDE-F5ED-8CAEA47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3544-6851-C517-5A61-3B617C87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580" y="48503"/>
            <a:ext cx="6099240" cy="797875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METHOD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0B476D39-921A-6145-578B-37A5E0E8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56210"/>
            <a:ext cx="10515601" cy="524325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proposed system introduces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CryptoVote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-inspired electronic voting system for secure and transparent elections.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uses cryptographic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SHA-256 hashing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convert each vote into a secure and immutable block.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sequential block-linking mechanism ensures that every vote is permanently connected to the previous one.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includes secure user authentication and voter verification to prevent unauthorized and duplicate voting.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By combining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principles with lightweight data storage, it ensures vote integrity, transparency, and reliable result generation.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22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B6AE-8C48-BEEE-C53F-1B9FB351A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03" y="353960"/>
            <a:ext cx="10379523" cy="75327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23731"/>
            <a:ext cx="10426085" cy="5653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66992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6BB342-9204-0D58-CEE5-5540BDD67BDA}"/>
              </a:ext>
            </a:extLst>
          </p:cNvPr>
          <p:cNvSpPr txBox="1"/>
          <p:nvPr/>
        </p:nvSpPr>
        <p:spPr>
          <a:xfrm>
            <a:off x="2930013" y="277450"/>
            <a:ext cx="868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7FB71-E59B-A6B8-7521-1A00D22A43C6}"/>
              </a:ext>
            </a:extLst>
          </p:cNvPr>
          <p:cNvSpPr txBox="1"/>
          <p:nvPr/>
        </p:nvSpPr>
        <p:spPr>
          <a:xfrm>
            <a:off x="1174955" y="3576259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E1917-A9BC-E024-D517-1DE0AF9FC3F1}"/>
              </a:ext>
            </a:extLst>
          </p:cNvPr>
          <p:cNvSpPr txBox="1"/>
          <p:nvPr/>
        </p:nvSpPr>
        <p:spPr>
          <a:xfrm>
            <a:off x="1194620" y="922334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9806E-DFEE-1F70-FBE5-B8B8FE0E5264}"/>
              </a:ext>
            </a:extLst>
          </p:cNvPr>
          <p:cNvSpPr txBox="1"/>
          <p:nvPr/>
        </p:nvSpPr>
        <p:spPr>
          <a:xfrm>
            <a:off x="1641986" y="1567509"/>
            <a:ext cx="116118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(CPU): Intel Core i7 (Minimum requirement for smooth execution of blockchain logic).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Card (GPU): NVIDIA GPU with at least 8 GB VRAM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(RAM): 16 GB (Recommended for running IDEs and local blockchain simulations simultaneously).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256 GB SSD (Minimum) / 512 GB SSD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42675-CDA3-79D2-D0C9-A8D4273A6DD5}"/>
              </a:ext>
            </a:extLst>
          </p:cNvPr>
          <p:cNvSpPr txBox="1"/>
          <p:nvPr/>
        </p:nvSpPr>
        <p:spPr>
          <a:xfrm>
            <a:off x="1641986" y="4269240"/>
            <a:ext cx="103632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3.8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Development Environment: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(For testing the SHA-256 hashing modules and data visualization).</a:t>
            </a:r>
          </a:p>
        </p:txBody>
      </p:sp>
    </p:spTree>
    <p:extLst>
      <p:ext uri="{BB962C8B-B14F-4D97-AF65-F5344CB8AC3E}">
        <p14:creationId xmlns:p14="http://schemas.microsoft.com/office/powerpoint/2010/main" val="3075313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1C663-40F7-00EF-2CC7-A4D398E2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2E75-5789-4E74-F4C9-60126087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6" y="227685"/>
            <a:ext cx="10714703" cy="78864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LIST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66F39732-3A25-693A-FCDC-0051EE18A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799166"/>
            <a:ext cx="10714703" cy="5259668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Authentication Module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user registration and login.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Voter Verification Module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voter eligibility before allowing voting access.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62F41-B118-BA27-8527-2C0BE57E4187}"/>
              </a:ext>
            </a:extLst>
          </p:cNvPr>
          <p:cNvSpPr txBox="1"/>
          <p:nvPr/>
        </p:nvSpPr>
        <p:spPr>
          <a:xfrm>
            <a:off x="838192" y="2810181"/>
            <a:ext cx="67916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Candidate Management Module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add, update, or remove candidates</a:t>
            </a:r>
            <a:r>
              <a:rPr lang="en-US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5973F-7ED3-AA5F-25F1-CEA17DEC6D84}"/>
              </a:ext>
            </a:extLst>
          </p:cNvPr>
          <p:cNvSpPr txBox="1"/>
          <p:nvPr/>
        </p:nvSpPr>
        <p:spPr>
          <a:xfrm>
            <a:off x="838191" y="349990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Vote Processing &amp; Validation Module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vote request from verified voters.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A4CEB-E552-A934-A1CE-F83A6E168FBE}"/>
              </a:ext>
            </a:extLst>
          </p:cNvPr>
          <p:cNvSpPr txBox="1"/>
          <p:nvPr/>
        </p:nvSpPr>
        <p:spPr>
          <a:xfrm>
            <a:off x="838193" y="4203802"/>
            <a:ext cx="88367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Blockchain Block Creation Module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SHA-256 hash for each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vote,Links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block sequentially</a:t>
            </a:r>
            <a:r>
              <a:rPr lang="en-US" sz="2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DC47B-4BCA-2FD0-32F6-76E4B629DE5C}"/>
              </a:ext>
            </a:extLst>
          </p:cNvPr>
          <p:cNvSpPr txBox="1"/>
          <p:nvPr/>
        </p:nvSpPr>
        <p:spPr>
          <a:xfrm>
            <a:off x="838191" y="4849246"/>
            <a:ext cx="6833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Secure JSON Storage Module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structured JSON files for lightweight storage</a:t>
            </a:r>
            <a:r>
              <a:rPr lang="en-US" sz="22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812779-D5C4-FA43-5042-DD709B0DACCC}"/>
              </a:ext>
            </a:extLst>
          </p:cNvPr>
          <p:cNvSpPr txBox="1"/>
          <p:nvPr/>
        </p:nvSpPr>
        <p:spPr>
          <a:xfrm>
            <a:off x="838191" y="555705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Admin Dashboard Module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18927-3B4B-6470-13D4-4DC909B4F152}"/>
              </a:ext>
            </a:extLst>
          </p:cNvPr>
          <p:cNvSpPr txBox="1"/>
          <p:nvPr/>
        </p:nvSpPr>
        <p:spPr>
          <a:xfrm>
            <a:off x="1238243" y="5784977"/>
            <a:ext cx="8036645" cy="547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monitor election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progress,Access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results.</a:t>
            </a:r>
          </a:p>
        </p:txBody>
      </p:sp>
    </p:spTree>
    <p:extLst>
      <p:ext uri="{BB962C8B-B14F-4D97-AF65-F5344CB8AC3E}">
        <p14:creationId xmlns:p14="http://schemas.microsoft.com/office/powerpoint/2010/main" val="260017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E6B1-81D3-C88E-3FB1-3FC3CE8A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903" y="323072"/>
            <a:ext cx="9219746" cy="7470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5ED274D-73B3-CD90-9D95-6AAA691EBF0A}"/>
              </a:ext>
            </a:extLst>
          </p:cNvPr>
          <p:cNvSpPr txBox="1">
            <a:spLocks/>
          </p:cNvSpPr>
          <p:nvPr/>
        </p:nvSpPr>
        <p:spPr>
          <a:xfrm>
            <a:off x="541891" y="1235359"/>
            <a:ext cx="10738819" cy="35419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defTabSz="914400" fontAlgn="base">
              <a:lnSpc>
                <a:spcPct val="160000"/>
              </a:lnSpc>
              <a:spcAft>
                <a:spcPts val="600"/>
              </a:spcAft>
              <a:buClr>
                <a:srgbClr val="C00000"/>
              </a:buClr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 PROCESSING</a:t>
            </a:r>
          </a:p>
          <a:p>
            <a:pPr algn="just" defTabSz="914400" fontAlgn="base">
              <a:lnSpc>
                <a:spcPct val="160000"/>
              </a:lnSpc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login credentials such as username and password are provided through the voting interface.</a:t>
            </a:r>
          </a:p>
          <a:p>
            <a:pPr algn="just" defTabSz="914400" fontAlgn="base">
              <a:lnSpc>
                <a:spcPct val="160000"/>
              </a:lnSpc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Voter verification details including voter ID and personal information are submitted for eligibility validation.</a:t>
            </a:r>
          </a:p>
          <a:p>
            <a:pPr algn="just" defTabSz="914400" fontAlgn="base">
              <a:lnSpc>
                <a:spcPct val="160000"/>
              </a:lnSpc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selected candidate choice is captured during the vote casting process.</a:t>
            </a:r>
          </a:p>
          <a:p>
            <a:pPr algn="just" defTabSz="914400" fontAlgn="base">
              <a:lnSpc>
                <a:spcPct val="160000"/>
              </a:lnSpc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input data is securely transmitted to the backend for authentication and vote processing.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7411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13952" y="1708896"/>
            <a:ext cx="3220527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194" y="2089669"/>
            <a:ext cx="4680000" cy="2884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12128" y="1870787"/>
            <a:ext cx="2408852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15EE6B1-81D3-C88E-3FB1-3FC3CE8A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903" y="323072"/>
            <a:ext cx="9219746" cy="7470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AND USER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F8F3-F46F-696E-03B0-A9AA79D9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17" y="462115"/>
            <a:ext cx="2468009" cy="70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825625"/>
            <a:ext cx="10797073" cy="2653069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Votes are securely stored as immutable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blocks using cryptographic hashing.</a:t>
            </a:r>
          </a:p>
          <a:p>
            <a:pPr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system provides vote confirmation to the voter after successful submission.</a:t>
            </a:r>
          </a:p>
          <a:p>
            <a:pPr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Election results are generated accurately from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records.</a:t>
            </a:r>
          </a:p>
          <a:p>
            <a:pPr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Administrators can view verified results and audit vote integrity.</a:t>
            </a:r>
          </a:p>
        </p:txBody>
      </p:sp>
    </p:spTree>
    <p:extLst>
      <p:ext uri="{BB962C8B-B14F-4D97-AF65-F5344CB8AC3E}">
        <p14:creationId xmlns:p14="http://schemas.microsoft.com/office/powerpoint/2010/main" val="3697608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45629" y="1996850"/>
            <a:ext cx="2301326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907" y="1965066"/>
            <a:ext cx="2768257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15EE6B1-81D3-C88E-3FB1-3FC3CE8A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903" y="323072"/>
            <a:ext cx="9219746" cy="7470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AND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DE17-8DA1-38EA-9EA3-E74DCADF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35" y="208379"/>
            <a:ext cx="8911687" cy="63753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56341-D334-1485-B51C-16142FC8F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702" y="845910"/>
            <a:ext cx="10560098" cy="529511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proposed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CryptoVote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system integrates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principles with secure vote processing to ensure transparency and tamper-proof electronic voting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includes effective authentication, vote validation, block creation, and result generation stages to enhance election reliability.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use of cryptographic hashing and immutable block linking improves vote integrity and strengthens trust in the electoral process.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provides an efficient, automated, and practical solution for secure digital elections across institutions of varying sizes.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future, the system can be extended with biometric authentication, mobile voting support, and scalability enhancements for large-scale elections.</a:t>
            </a:r>
          </a:p>
        </p:txBody>
      </p:sp>
    </p:spTree>
    <p:extLst>
      <p:ext uri="{BB962C8B-B14F-4D97-AF65-F5344CB8AC3E}">
        <p14:creationId xmlns:p14="http://schemas.microsoft.com/office/powerpoint/2010/main" val="158277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E89FF-9A4B-CE4D-7F65-744F6E9075FE}"/>
              </a:ext>
            </a:extLst>
          </p:cNvPr>
          <p:cNvSpPr txBox="1"/>
          <p:nvPr/>
        </p:nvSpPr>
        <p:spPr>
          <a:xfrm>
            <a:off x="875071" y="1119377"/>
            <a:ext cx="9930581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sz="2000" dirty="0"/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Kiashemshaki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Jalili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Torkamani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“Secure Blockchain-Based Voting Using Hybrid Consensus and AI Techniques.”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IEEE International Conference on Blockchain and Cryptocurrency (ICBC),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Volume No: 7, 2025.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Poudel, A., Poudel, U., et al.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“Quantum-Secure Blockchain Voting System with Biometric Authentication.”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IEEE International Conference on Cybersecurity and Cryptography,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Volume No:6, 2025.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Saleh, M. G.,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Rimbawa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A. 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“Hybrid Blockchain-Based E-Voting System with GPS Verification.”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International Journal of Scientific Research and Modern Technology, Volume No: 4, 2025.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08877-624B-C2E0-6A05-28C069821B9A}"/>
              </a:ext>
            </a:extLst>
          </p:cNvPr>
          <p:cNvSpPr txBox="1"/>
          <p:nvPr/>
        </p:nvSpPr>
        <p:spPr>
          <a:xfrm>
            <a:off x="4080387" y="6609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74170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E89FF-9A4B-CE4D-7F65-744F6E9075FE}"/>
              </a:ext>
            </a:extLst>
          </p:cNvPr>
          <p:cNvSpPr txBox="1"/>
          <p:nvPr/>
        </p:nvSpPr>
        <p:spPr>
          <a:xfrm>
            <a:off x="875071" y="1119377"/>
            <a:ext cx="99305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sz="20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08877-624B-C2E0-6A05-28C069821B9A}"/>
              </a:ext>
            </a:extLst>
          </p:cNvPr>
          <p:cNvSpPr txBox="1"/>
          <p:nvPr/>
        </p:nvSpPr>
        <p:spPr>
          <a:xfrm>
            <a:off x="4080387" y="6609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A6159-0466-0BFA-55D3-9D63A940D886}"/>
              </a:ext>
            </a:extLst>
          </p:cNvPr>
          <p:cNvSpPr txBox="1"/>
          <p:nvPr/>
        </p:nvSpPr>
        <p:spPr>
          <a:xfrm>
            <a:off x="1691149" y="1456021"/>
            <a:ext cx="862289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Sharp, M.,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Njilla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Huang, C.-T.,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“Blockchain-Based E-Voting Mechanisms and Advanced Counting Methods.”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MDPI Network Journal, Volume No: 4, Issue No: 4, 2024.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Somasekhar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Jinka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Kanekal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K.,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Marouthu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“Digital Voting with Blockchain using IPFS and PBFT.”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Engineering, Technology &amp; Applied Science Research, Volume No: 14,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Issue No:6, 2024.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Tahboub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Revilla, A., and Lynch, J.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“Hybrid Blockchain Architecture for Secure and Verifiable E-Voting.”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IEEE International Conference on Secure Computing and Networking,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Volume No: 5, 2025.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6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31316-1861-2563-9D26-209222EB0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5" y="989045"/>
            <a:ext cx="11114172" cy="4767323"/>
          </a:xfrm>
        </p:spPr>
        <p:txBody>
          <a:bodyPr>
            <a:normAutofit/>
          </a:bodyPr>
          <a:lstStyle/>
          <a:p>
            <a:pPr algn="ctr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01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F29E9E3AE78C43B98BE2F3D73F4B5D" ma:contentTypeVersion="4" ma:contentTypeDescription="Create a new document." ma:contentTypeScope="" ma:versionID="45e75b51ba201055feedbcafb3cd541b">
  <xsd:schema xmlns:xsd="http://www.w3.org/2001/XMLSchema" xmlns:xs="http://www.w3.org/2001/XMLSchema" xmlns:p="http://schemas.microsoft.com/office/2006/metadata/properties" xmlns:ns3="81e2c059-5ad8-4337-830a-6d5b1ad75743" targetNamespace="http://schemas.microsoft.com/office/2006/metadata/properties" ma:root="true" ma:fieldsID="fbe9c1a7ff3afa8c1876ca374c752951" ns3:_="">
    <xsd:import namespace="81e2c059-5ad8-4337-830a-6d5b1ad757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2c059-5ad8-4337-830a-6d5b1ad757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2DD1F6-1308-470E-A352-00995283638C}">
  <ds:schemaRefs>
    <ds:schemaRef ds:uri="http://schemas.microsoft.com/office/infopath/2007/PartnerControls"/>
    <ds:schemaRef ds:uri="http://schemas.microsoft.com/office/2006/documentManagement/types"/>
    <ds:schemaRef ds:uri="81e2c059-5ad8-4337-830a-6d5b1ad75743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5F7BFE-6E44-466E-95F0-46D14A5B15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598CF8-E05E-43BD-BEF5-D03F81EB82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e2c059-5ad8-4337-830a-6d5b1ad757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960</TotalTime>
  <Words>1383</Words>
  <Application>Microsoft Office PowerPoint</Application>
  <PresentationFormat>Widescreen</PresentationFormat>
  <Paragraphs>194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Times New Roman</vt:lpstr>
      <vt:lpstr>Wingdings</vt:lpstr>
      <vt:lpstr>Office 2013 - 2022 Theme</vt:lpstr>
      <vt:lpstr>PowerPoint Presentation</vt:lpstr>
      <vt:lpstr>ABSTRACT</vt:lpstr>
      <vt:lpstr>PROBLEM STATEMENT</vt:lpstr>
      <vt:lpstr>PowerPoint Presentation</vt:lpstr>
      <vt:lpstr>PowerPoint Presentation</vt:lpstr>
      <vt:lpstr>PowerPoint Presentation</vt:lpstr>
      <vt:lpstr>PROPOSED WORK METHOD</vt:lpstr>
      <vt:lpstr>BLOCK DIAGRAM</vt:lpstr>
      <vt:lpstr>PowerPoint Presentation</vt:lpstr>
      <vt:lpstr> MODULE LIST</vt:lpstr>
      <vt:lpstr>INPUT</vt:lpstr>
      <vt:lpstr>INPUT AND USER DASHBOARD</vt:lpstr>
      <vt:lpstr>OUTPUT</vt:lpstr>
      <vt:lpstr>ADMIN DASHBOARD AND OUTPUT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Harini</dc:creator>
  <cp:lastModifiedBy>S0414974</cp:lastModifiedBy>
  <cp:revision>68</cp:revision>
  <dcterms:created xsi:type="dcterms:W3CDTF">2025-10-29T14:58:11Z</dcterms:created>
  <dcterms:modified xsi:type="dcterms:W3CDTF">2026-04-28T17:53:23Z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0x010100D0F29E9E3AE78C43B98BE2F3D73F4B5D</vt:lpwstr>
  </property>
</Properties>
</file>