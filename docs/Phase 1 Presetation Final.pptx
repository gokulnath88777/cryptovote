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dia/audio1" ContentType="audio/x-wav"/>
  <Override PartName="/ppt/media/audio2" ContentType="audio/x-wav"/>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2" r:id="rId3"/>
    <p:sldId id="261" r:id="rId4"/>
    <p:sldId id="274" r:id="rId5"/>
    <p:sldId id="268" r:id="rId6"/>
    <p:sldId id="276" r:id="rId7"/>
    <p:sldId id="267" r:id="rId8"/>
    <p:sldId id="265" r:id="rId9"/>
    <p:sldId id="277" r:id="rId10"/>
    <p:sldId id="272" r:id="rId11"/>
    <p:sldId id="270" r:id="rId12"/>
    <p:sldId id="278" r:id="rId13"/>
    <p:sldId id="279" r:id="rId14"/>
    <p:sldId id="271" r:id="rId15"/>
    <p:sldId id="26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540B5D6-68ED-44E2-8E4D-A2813138774D}">
          <p14:sldIdLst>
            <p14:sldId id="256"/>
            <p14:sldId id="262"/>
            <p14:sldId id="261"/>
            <p14:sldId id="274"/>
            <p14:sldId id="268"/>
            <p14:sldId id="276"/>
            <p14:sldId id="267"/>
            <p14:sldId id="265"/>
            <p14:sldId id="277"/>
            <p14:sldId id="272"/>
            <p14:sldId id="270"/>
            <p14:sldId id="278"/>
            <p14:sldId id="279"/>
            <p14:sldId id="271"/>
            <p14:sldId id="26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0411383-FB00-4EE6-BDE6-670EFA9468F9}" type="datetimeFigureOut">
              <a:rPr lang="en-IN" smtClean="0"/>
              <a:pPr/>
              <a:t>27-12-2025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DC082D-2951-4039-B351-1547F4BBDF23}"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0411383-FB00-4EE6-BDE6-670EFA9468F9}" type="datetimeFigureOut">
              <a:rPr lang="en-IN" smtClean="0"/>
              <a:pPr/>
              <a:t>27-12-2025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DC082D-2951-4039-B351-1547F4BBDF23}"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411383-FB00-4EE6-BDE6-670EFA9468F9}" type="datetimeFigureOut">
              <a:rPr lang="en-IN" smtClean="0"/>
              <a:pPr/>
              <a:t>27-12-2025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DC082D-2951-4039-B351-1547F4BBDF23}"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0411383-FB00-4EE6-BDE6-670EFA9468F9}" type="datetimeFigureOut">
              <a:rPr lang="en-IN" smtClean="0"/>
              <a:pPr/>
              <a:t>27-12-2025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DC082D-2951-4039-B351-1547F4BBDF23}"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0411383-FB00-4EE6-BDE6-670EFA9468F9}" type="datetimeFigureOut">
              <a:rPr lang="en-IN" smtClean="0"/>
              <a:pPr/>
              <a:t>27-12-2025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5DC082D-2951-4039-B351-1547F4BBDF23}"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0411383-FB00-4EE6-BDE6-670EFA9468F9}" type="datetimeFigureOut">
              <a:rPr lang="en-IN" smtClean="0"/>
              <a:pPr/>
              <a:t>27-12-2025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DC082D-2951-4039-B351-1547F4BBDF23}"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411383-FB00-4EE6-BDE6-670EFA9468F9}" type="datetimeFigureOut">
              <a:rPr lang="en-IN" smtClean="0"/>
              <a:pPr/>
              <a:t>27-12-2025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5DC082D-2951-4039-B351-1547F4BBDF23}"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0411383-FB00-4EE6-BDE6-670EFA9468F9}" type="datetimeFigureOut">
              <a:rPr lang="en-IN" smtClean="0"/>
              <a:pPr/>
              <a:t>27-12-2025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DC082D-2951-4039-B351-1547F4BBDF23}"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0411383-FB00-4EE6-BDE6-670EFA9468F9}" type="datetimeFigureOut">
              <a:rPr lang="en-IN" smtClean="0"/>
              <a:pPr/>
              <a:t>27-12-2025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DC082D-2951-4039-B351-1547F4BBDF23}"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0411383-FB00-4EE6-BDE6-670EFA9468F9}" type="datetimeFigureOut">
              <a:rPr lang="en-IN" smtClean="0"/>
              <a:pPr/>
              <a:t>27-12-2025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DC082D-2951-4039-B351-1547F4BBDF23}"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0411383-FB00-4EE6-BDE6-670EFA9468F9}" type="datetimeFigureOut">
              <a:rPr lang="en-IN" smtClean="0"/>
              <a:pPr/>
              <a:t>27-12-2025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DC082D-2951-4039-B351-1547F4BBDF23}"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411383-FB00-4EE6-BDE6-670EFA9468F9}" type="datetimeFigureOut">
              <a:rPr lang="en-IN" smtClean="0"/>
              <a:pPr/>
              <a:t>27-12-2025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DC082D-2951-4039-B351-1547F4BBDF23}"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1"/></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audio" Target="../media/audio2"/><Relationship Id="rId2" Type="http://schemas.openxmlformats.org/officeDocument/2006/relationships/audio" Target="../media/audio2.wav"/><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Logo_MEC">
            <a:extLst>
              <a:ext uri="{FF2B5EF4-FFF2-40B4-BE49-F238E27FC236}">
                <a16:creationId xmlns:a16="http://schemas.microsoft.com/office/drawing/2014/main" id="{DC20F0E1-F071-4452-9248-BFA6D386FC6E}"/>
              </a:ext>
            </a:extLst>
          </p:cNvPr>
          <p:cNvPicPr>
            <a:picLocks noChangeAspect="1" noChangeArrowheads="1"/>
          </p:cNvPicPr>
          <p:nvPr/>
        </p:nvPicPr>
        <p:blipFill>
          <a:blip r:embed="rId3" cstate="print">
            <a:lum contrast="20000"/>
            <a:extLst>
              <a:ext uri="{28A0092B-C50C-407E-A947-70E740481C1C}">
                <a14:useLocalDpi xmlns:a14="http://schemas.microsoft.com/office/drawing/2010/main" val="0"/>
              </a:ext>
            </a:extLst>
          </a:blip>
          <a:srcRect/>
          <a:stretch>
            <a:fillRect/>
          </a:stretch>
        </p:blipFill>
        <p:spPr bwMode="auto">
          <a:xfrm>
            <a:off x="1381277" y="749390"/>
            <a:ext cx="990144" cy="120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Box 6">
            <a:extLst>
              <a:ext uri="{FF2B5EF4-FFF2-40B4-BE49-F238E27FC236}">
                <a16:creationId xmlns:a16="http://schemas.microsoft.com/office/drawing/2014/main" id="{7F171145-CEFB-43DB-BBA2-0B4D008DACAB}"/>
              </a:ext>
            </a:extLst>
          </p:cNvPr>
          <p:cNvSpPr txBox="1"/>
          <p:nvPr/>
        </p:nvSpPr>
        <p:spPr>
          <a:xfrm>
            <a:off x="2371421" y="645077"/>
            <a:ext cx="7713201" cy="1354217"/>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b="1" dirty="0">
                <a:latin typeface="Times New Roman" panose="02020603050405020304" pitchFamily="18" charset="0"/>
                <a:cs typeface="Times New Roman" panose="02020603050405020304" pitchFamily="18" charset="0"/>
              </a:rPr>
              <a:t>MUTHAYAMMAL ENGINEERING COLLEGE</a:t>
            </a:r>
            <a:br>
              <a:rPr lang="en-US" sz="3200" b="1"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(Autonomous)</a:t>
            </a:r>
            <a:br>
              <a:rPr lang="en-IN" sz="1400"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Rasipuram - 637 408, Namakkal (Dt.), Tamil Nadu, India.</a:t>
            </a:r>
            <a:endParaRPr lang="en-IN" dirty="0"/>
          </a:p>
          <a:p>
            <a:pPr algn="ctr"/>
            <a:endParaRPr lang="en-IN" dirty="0"/>
          </a:p>
        </p:txBody>
      </p:sp>
      <p:sp>
        <p:nvSpPr>
          <p:cNvPr id="21" name="TextBox 7">
            <a:extLst>
              <a:ext uri="{FF2B5EF4-FFF2-40B4-BE49-F238E27FC236}">
                <a16:creationId xmlns:a16="http://schemas.microsoft.com/office/drawing/2014/main" id="{817D1F36-6CB7-49FA-85C2-B72FAAAFE946}"/>
              </a:ext>
            </a:extLst>
          </p:cNvPr>
          <p:cNvSpPr txBox="1"/>
          <p:nvPr/>
        </p:nvSpPr>
        <p:spPr>
          <a:xfrm>
            <a:off x="2688559" y="2304871"/>
            <a:ext cx="7078926" cy="58477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200" b="1" dirty="0">
                <a:latin typeface="Times New Roman" panose="02020603050405020304" pitchFamily="18" charset="0"/>
                <a:cs typeface="Times New Roman" panose="02020603050405020304" pitchFamily="18" charset="0"/>
              </a:rPr>
              <a:t>Department of Information Technology</a:t>
            </a:r>
          </a:p>
        </p:txBody>
      </p:sp>
      <p:sp>
        <p:nvSpPr>
          <p:cNvPr id="22" name="TextBox 8">
            <a:extLst>
              <a:ext uri="{FF2B5EF4-FFF2-40B4-BE49-F238E27FC236}">
                <a16:creationId xmlns:a16="http://schemas.microsoft.com/office/drawing/2014/main" id="{9C1C2378-08B3-4A88-97B6-6A4705C874B9}"/>
              </a:ext>
            </a:extLst>
          </p:cNvPr>
          <p:cNvSpPr txBox="1"/>
          <p:nvPr/>
        </p:nvSpPr>
        <p:spPr>
          <a:xfrm>
            <a:off x="1317597" y="3228144"/>
            <a:ext cx="9715588" cy="89255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600" b="1" dirty="0">
                <a:latin typeface="Times New Roman" panose="02020603050405020304" charset="0"/>
                <a:cs typeface="Times New Roman" panose="02020603050405020304" charset="0"/>
              </a:rPr>
              <a:t>SMART AGRICULTURAL FARM TO SHOP SUPPLY MANAGEMENT ADVANCED DIGITAL BOOKING </a:t>
            </a:r>
            <a:r>
              <a:rPr lang="en-IN" sz="2600" b="1" dirty="0">
                <a:latin typeface="Times New Roman" panose="02020603050405020304" charset="0"/>
                <a:cs typeface="Times New Roman" panose="02020603050405020304" charset="0"/>
              </a:rPr>
              <a:t>PLATFORM </a:t>
            </a:r>
          </a:p>
        </p:txBody>
      </p:sp>
      <p:sp>
        <p:nvSpPr>
          <p:cNvPr id="23" name="TextBox 9">
            <a:extLst>
              <a:ext uri="{FF2B5EF4-FFF2-40B4-BE49-F238E27FC236}">
                <a16:creationId xmlns:a16="http://schemas.microsoft.com/office/drawing/2014/main" id="{91A81F2E-208E-4159-BF1E-EDE1B462A509}"/>
              </a:ext>
            </a:extLst>
          </p:cNvPr>
          <p:cNvSpPr txBox="1"/>
          <p:nvPr/>
        </p:nvSpPr>
        <p:spPr>
          <a:xfrm>
            <a:off x="1381277" y="4735594"/>
            <a:ext cx="3825663" cy="1477328"/>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Project Guide</a:t>
            </a:r>
          </a:p>
          <a:p>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Dr.D.Anitha</a:t>
            </a:r>
            <a:r>
              <a:rPr lang="en-IN" dirty="0">
                <a:latin typeface="Times New Roman" panose="02020603050405020304" pitchFamily="18" charset="0"/>
                <a:cs typeface="Times New Roman" panose="02020603050405020304" pitchFamily="18" charset="0"/>
              </a:rPr>
              <a:t>, M.E ,</a:t>
            </a:r>
            <a:r>
              <a:rPr lang="en-IN" dirty="0" err="1">
                <a:latin typeface="Times New Roman" panose="02020603050405020304" pitchFamily="18" charset="0"/>
                <a:cs typeface="Times New Roman" panose="02020603050405020304" pitchFamily="18" charset="0"/>
              </a:rPr>
              <a:t>Ph.D</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Head of The Department,</a:t>
            </a:r>
          </a:p>
          <a:p>
            <a:r>
              <a:rPr lang="en-IN" dirty="0">
                <a:latin typeface="Times New Roman" panose="02020603050405020304" pitchFamily="18" charset="0"/>
                <a:cs typeface="Times New Roman" panose="02020603050405020304" pitchFamily="18" charset="0"/>
              </a:rPr>
              <a:t>Department of Information Technology</a:t>
            </a:r>
            <a:endParaRPr lang="en-IN" dirty="0"/>
          </a:p>
        </p:txBody>
      </p:sp>
      <p:sp>
        <p:nvSpPr>
          <p:cNvPr id="24" name="TextBox 10">
            <a:extLst>
              <a:ext uri="{FF2B5EF4-FFF2-40B4-BE49-F238E27FC236}">
                <a16:creationId xmlns:a16="http://schemas.microsoft.com/office/drawing/2014/main" id="{2C6FF35E-E959-4021-8ADF-057BBAA673BA}"/>
              </a:ext>
            </a:extLst>
          </p:cNvPr>
          <p:cNvSpPr txBox="1"/>
          <p:nvPr/>
        </p:nvSpPr>
        <p:spPr>
          <a:xfrm>
            <a:off x="7983736" y="4735594"/>
            <a:ext cx="2960939" cy="1754326"/>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Presented by</a:t>
            </a:r>
          </a:p>
          <a:p>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Praveen R [22IT058]</a:t>
            </a: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Pradeep N [22IT056]</a:t>
            </a: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Rajeshkanna S [22IT062]</a:t>
            </a:r>
          </a:p>
          <a:p>
            <a:pPr marL="342900" indent="-342900">
              <a:buFont typeface="+mj-lt"/>
              <a:buAutoNum type="arabicPeriod"/>
            </a:pPr>
            <a:r>
              <a:rPr lang="en-IN" dirty="0" err="1">
                <a:latin typeface="Times New Roman" panose="02020603050405020304" pitchFamily="18" charset="0"/>
                <a:cs typeface="Times New Roman" panose="02020603050405020304" pitchFamily="18" charset="0"/>
              </a:rPr>
              <a:t>Yathunanthan</a:t>
            </a:r>
            <a:r>
              <a:rPr lang="en-IN" dirty="0">
                <a:latin typeface="Times New Roman" panose="02020603050405020304" pitchFamily="18" charset="0"/>
                <a:cs typeface="Times New Roman" panose="02020603050405020304" pitchFamily="18" charset="0"/>
              </a:rPr>
              <a:t> P [23IT508]</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sndAc>
          <p:stSnd>
            <p:snd r:embed="rId2" name="APPLAUSE.WAV"/>
          </p:stSnd>
        </p:sndAc>
      </p:transition>
    </mc:Choice>
    <mc:Fallback xmlns="">
      <p:transition spd="slow">
        <p:fade/>
        <p:sndAc>
          <p:stSnd>
            <p:snd r:embed="rId4" name="APPLAUSE.WAV"/>
          </p:stSnd>
        </p:sndAc>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E1A69E-2F12-706D-06D5-8ED674B91911}"/>
              </a:ext>
            </a:extLst>
          </p:cNvPr>
          <p:cNvSpPr>
            <a:spLocks noGrp="1"/>
          </p:cNvSpPr>
          <p:nvPr>
            <p:ph type="ctrTitle"/>
          </p:nvPr>
        </p:nvSpPr>
        <p:spPr>
          <a:xfrm>
            <a:off x="1021265" y="65968"/>
            <a:ext cx="9144000" cy="651017"/>
          </a:xfrm>
        </p:spPr>
        <p:txBody>
          <a:bodyPr>
            <a:normAutofit/>
          </a:bodyPr>
          <a:lstStyle/>
          <a:p>
            <a:r>
              <a:rPr lang="en-IN" sz="3200" b="1" dirty="0">
                <a:latin typeface="Times New Roman" panose="02020603050405020304" pitchFamily="18" charset="0"/>
                <a:cs typeface="Times New Roman" panose="02020603050405020304" pitchFamily="18" charset="0"/>
              </a:rPr>
              <a:t>AGENDA</a:t>
            </a:r>
          </a:p>
        </p:txBody>
      </p:sp>
      <p:sp>
        <p:nvSpPr>
          <p:cNvPr id="9" name="TextBox 8">
            <a:extLst>
              <a:ext uri="{FF2B5EF4-FFF2-40B4-BE49-F238E27FC236}">
                <a16:creationId xmlns:a16="http://schemas.microsoft.com/office/drawing/2014/main" id="{4C4535D9-9E43-3D02-618B-0A43865945E7}"/>
              </a:ext>
            </a:extLst>
          </p:cNvPr>
          <p:cNvSpPr txBox="1"/>
          <p:nvPr/>
        </p:nvSpPr>
        <p:spPr>
          <a:xfrm>
            <a:off x="4356171" y="738055"/>
            <a:ext cx="5929864" cy="611994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ABSTRACT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INTRODUCTION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LITERATURE SURVEY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SYSTEM ARCHITECTURE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EXISTING SYSTEM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PROPOSED SYSTEM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LIST OF MODULES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OUTPUT SCREENSHOTS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FUTURE ENHANCEMENT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CONCLUSION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REFERENCE</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18853" y="1346917"/>
            <a:ext cx="10954293" cy="4457952"/>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latin typeface="Times New Roman"/>
                <a:cs typeface="Times New Roman"/>
              </a:rPr>
              <a:t>Agricultural trading environment, farmers struggle to sell products directly to shops due to middlemen involvement, unpredictable pricing, and lack of digital transparency.</a:t>
            </a:r>
          </a:p>
          <a:p>
            <a:pPr marL="342900" indent="-342900" algn="just">
              <a:lnSpc>
                <a:spcPct val="150000"/>
              </a:lnSpc>
              <a:buFont typeface="Arial" panose="020B0604020202020204" pitchFamily="34" charset="0"/>
              <a:buChar char="•"/>
            </a:pPr>
            <a:r>
              <a:rPr lang="en-US" sz="2400" dirty="0">
                <a:latin typeface="Times New Roman"/>
                <a:cs typeface="Times New Roman"/>
              </a:rPr>
              <a:t>Product Recommendation Algorithm to assist shops in selecting suitable farm products, and a Supply Chain Tracking Algorithm to provide transparent farm-to-shop movement monitoring.</a:t>
            </a:r>
          </a:p>
          <a:p>
            <a:pPr marL="342900" indent="-342900" algn="just">
              <a:lnSpc>
                <a:spcPct val="150000"/>
              </a:lnSpc>
              <a:buFont typeface="Arial" panose="020B0604020202020204" pitchFamily="34" charset="0"/>
              <a:buChar char="•"/>
            </a:pPr>
            <a:r>
              <a:rPr lang="en-US" sz="2400" dirty="0">
                <a:latin typeface="Times New Roman"/>
                <a:cs typeface="Times New Roman"/>
              </a:rPr>
              <a:t>Ensures fair pricing, reduces dependency on middlemen, improves booking accuracy, and enhances operational direct connection between farmers and shop owners</a:t>
            </a:r>
          </a:p>
        </p:txBody>
      </p:sp>
      <p:sp>
        <p:nvSpPr>
          <p:cNvPr id="7" name="TextBox 6"/>
          <p:cNvSpPr txBox="1"/>
          <p:nvPr/>
        </p:nvSpPr>
        <p:spPr>
          <a:xfrm>
            <a:off x="618853" y="437578"/>
            <a:ext cx="10776640" cy="615553"/>
          </a:xfrm>
          <a:prstGeom prst="rect">
            <a:avLst/>
          </a:prstGeom>
          <a:noFill/>
        </p:spPr>
        <p:txBody>
          <a:bodyPr wrap="square">
            <a:spAutoFit/>
          </a:bodyPr>
          <a:lstStyle/>
          <a:p>
            <a:pPr algn="ctr"/>
            <a:r>
              <a:rPr lang="en-US" sz="3400" b="1" dirty="0">
                <a:latin typeface="Times New Roman" panose="02020603050405020304" pitchFamily="18" charset="0"/>
                <a:cs typeface="Times New Roman" panose="02020603050405020304" pitchFamily="18" charset="0"/>
              </a:rPr>
              <a:t>ABSTRACT</a:t>
            </a:r>
            <a:endParaRPr lang="en-IN" sz="3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9EED-7A61-CBAB-3108-883291588F02}"/>
              </a:ext>
            </a:extLst>
          </p:cNvPr>
          <p:cNvSpPr>
            <a:spLocks noGrp="1"/>
          </p:cNvSpPr>
          <p:nvPr>
            <p:ph type="ctrTitle"/>
          </p:nvPr>
        </p:nvSpPr>
        <p:spPr>
          <a:xfrm>
            <a:off x="1429109" y="310552"/>
            <a:ext cx="9144000" cy="720306"/>
          </a:xfrm>
        </p:spPr>
        <p:txBody>
          <a:bodyPr>
            <a:normAutofit/>
          </a:bodyPr>
          <a:lstStyle/>
          <a:p>
            <a:r>
              <a:rPr lang="en-IN" sz="3400" b="1" dirty="0">
                <a:latin typeface="Times New Roman" panose="02020603050405020304" pitchFamily="18" charset="0"/>
                <a:cs typeface="Times New Roman" panose="02020603050405020304" pitchFamily="18" charset="0"/>
              </a:rPr>
              <a:t>INTRODUCTION</a:t>
            </a:r>
          </a:p>
        </p:txBody>
      </p:sp>
      <p:sp>
        <p:nvSpPr>
          <p:cNvPr id="3" name="Subtitle 2">
            <a:extLst>
              <a:ext uri="{FF2B5EF4-FFF2-40B4-BE49-F238E27FC236}">
                <a16:creationId xmlns:a16="http://schemas.microsoft.com/office/drawing/2014/main" id="{7C475E19-74D8-4323-1958-5C4490B8FF6E}"/>
              </a:ext>
            </a:extLst>
          </p:cNvPr>
          <p:cNvSpPr>
            <a:spLocks noGrp="1"/>
          </p:cNvSpPr>
          <p:nvPr>
            <p:ph type="subTitle" idx="1"/>
          </p:nvPr>
        </p:nvSpPr>
        <p:spPr>
          <a:xfrm>
            <a:off x="828675" y="1247775"/>
            <a:ext cx="10372725" cy="5067300"/>
          </a:xfrm>
        </p:spPr>
        <p:txBody>
          <a:bodyPr/>
          <a:lstStyle/>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Agriculture plays an important role in our country, but farmers often face problems in selling their products directly to customers. Middle man reduce profits and increase prices.</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System ensures fair pricing, fresh products for customers, and better income for farmers. It also improves transparency and trust in the supply process and avoid the middle man.</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digital platform that connects farmers, shopkeepers, and customers in one system. It helps in easy product listing, ordering, and payment</a:t>
            </a:r>
            <a:r>
              <a:rPr lang="en-US" dirty="0"/>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2490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AEAB8-9ADF-0471-D29C-44658D2A08B9}"/>
              </a:ext>
            </a:extLst>
          </p:cNvPr>
          <p:cNvSpPr>
            <a:spLocks noGrp="1"/>
          </p:cNvSpPr>
          <p:nvPr>
            <p:ph type="ctrTitle"/>
          </p:nvPr>
        </p:nvSpPr>
        <p:spPr>
          <a:xfrm>
            <a:off x="1437736" y="354611"/>
            <a:ext cx="9144000" cy="637426"/>
          </a:xfrm>
        </p:spPr>
        <p:txBody>
          <a:bodyPr>
            <a:normAutofit/>
          </a:bodyPr>
          <a:lstStyle/>
          <a:p>
            <a:pPr algn="ctr"/>
            <a:r>
              <a:rPr lang="en-IN" sz="3400" b="1" dirty="0">
                <a:latin typeface="Times New Roman" panose="02020603050405020304" pitchFamily="18" charset="0"/>
                <a:ea typeface="+mn-ea"/>
                <a:cs typeface="Times New Roman" panose="02020603050405020304" pitchFamily="18" charset="0"/>
              </a:rPr>
              <a:t>LITERATURE SURVEY</a:t>
            </a:r>
          </a:p>
        </p:txBody>
      </p:sp>
      <p:graphicFrame>
        <p:nvGraphicFramePr>
          <p:cNvPr id="3" name="Table 2">
            <a:extLst>
              <a:ext uri="{FF2B5EF4-FFF2-40B4-BE49-F238E27FC236}">
                <a16:creationId xmlns:a16="http://schemas.microsoft.com/office/drawing/2014/main" id="{AD2A2DF7-6076-0D81-32E3-605ABC4E7204}"/>
              </a:ext>
            </a:extLst>
          </p:cNvPr>
          <p:cNvGraphicFramePr>
            <a:graphicFrameLocks noGrp="1"/>
          </p:cNvGraphicFramePr>
          <p:nvPr>
            <p:extLst>
              <p:ext uri="{D42A27DB-BD31-4B8C-83A1-F6EECF244321}">
                <p14:modId xmlns:p14="http://schemas.microsoft.com/office/powerpoint/2010/main" val="2030366508"/>
              </p:ext>
            </p:extLst>
          </p:nvPr>
        </p:nvGraphicFramePr>
        <p:xfrm>
          <a:off x="838200" y="1157681"/>
          <a:ext cx="10307128" cy="5152441"/>
        </p:xfrm>
        <a:graphic>
          <a:graphicData uri="http://schemas.openxmlformats.org/drawingml/2006/table">
            <a:tbl>
              <a:tblPr/>
              <a:tblGrid>
                <a:gridCol w="10307128">
                  <a:extLst>
                    <a:ext uri="{9D8B030D-6E8A-4147-A177-3AD203B41FA5}">
                      <a16:colId xmlns:a16="http://schemas.microsoft.com/office/drawing/2014/main" val="2995921342"/>
                    </a:ext>
                  </a:extLst>
                </a:gridCol>
              </a:tblGrid>
              <a:tr h="2595169">
                <a:tc>
                  <a:txBody>
                    <a:bodyPr/>
                    <a:lstStyle/>
                    <a:p>
                      <a:pPr marL="0" indent="0" algn="l" defTabSz="914400" rtl="0" eaLnBrk="1" latinLnBrk="0" hangingPunct="1">
                        <a:lnSpc>
                          <a:spcPct val="90000"/>
                        </a:lnSpc>
                        <a:spcBef>
                          <a:spcPts val="1000"/>
                        </a:spcBef>
                        <a:buFont typeface="Arial" panose="020B0604020202020204" pitchFamily="34" charset="0"/>
                        <a:buNone/>
                      </a:pPr>
                      <a:r>
                        <a:rPr lang="en-IN" sz="2800" b="1" kern="1200" dirty="0">
                          <a:solidFill>
                            <a:schemeClr val="tx1"/>
                          </a:solidFill>
                          <a:latin typeface="Times New Roman" panose="02020603050405020304" pitchFamily="18" charset="0"/>
                          <a:ea typeface="+mn-ea"/>
                          <a:cs typeface="Times New Roman" panose="02020603050405020304" pitchFamily="18" charset="0"/>
                        </a:rPr>
                        <a:t>Title:</a:t>
                      </a:r>
                    </a:p>
                    <a:p>
                      <a:pPr marL="0" indent="0" algn="l" defTabSz="914400" rtl="0" eaLnBrk="1" latinLnBrk="0" hangingPunct="1">
                        <a:lnSpc>
                          <a:spcPct val="90000"/>
                        </a:lnSpc>
                        <a:spcBef>
                          <a:spcPts val="1000"/>
                        </a:spcBef>
                        <a:buFont typeface="Arial" panose="020B0604020202020204" pitchFamily="34" charset="0"/>
                        <a:buNone/>
                      </a:pPr>
                      <a:r>
                        <a:rPr lang="en-US" sz="2800" dirty="0"/>
                        <a:t>   </a:t>
                      </a:r>
                      <a:r>
                        <a:rPr lang="en-US" sz="2400" kern="1200" dirty="0">
                          <a:solidFill>
                            <a:schemeClr val="tx1"/>
                          </a:solidFill>
                          <a:latin typeface="Times New Roman"/>
                          <a:ea typeface="+mn-ea"/>
                          <a:cs typeface="Times New Roman"/>
                        </a:rPr>
                        <a:t>Organic Farming and Direct to Consumer Marketing.</a:t>
                      </a:r>
                    </a:p>
                    <a:p>
                      <a:pPr marL="0" indent="0" algn="l" defTabSz="914400" rtl="0" eaLnBrk="1" latinLnBrk="0" hangingPunct="1">
                        <a:lnSpc>
                          <a:spcPct val="90000"/>
                        </a:lnSpc>
                        <a:spcBef>
                          <a:spcPts val="1000"/>
                        </a:spcBef>
                        <a:buFont typeface="Arial" panose="020B0604020202020204" pitchFamily="34" charset="0"/>
                        <a:buNone/>
                      </a:pPr>
                      <a:r>
                        <a:rPr lang="en-IN" sz="2800" b="1" kern="1200" dirty="0">
                          <a:solidFill>
                            <a:schemeClr val="tx1"/>
                          </a:solidFill>
                          <a:latin typeface="Times New Roman" panose="02020603050405020304" pitchFamily="18" charset="0"/>
                          <a:ea typeface="+mn-ea"/>
                          <a:cs typeface="Times New Roman" panose="02020603050405020304" pitchFamily="18" charset="0"/>
                        </a:rPr>
                        <a:t>Author &amp; Year:</a:t>
                      </a:r>
                    </a:p>
                    <a:p>
                      <a:pPr marL="0" indent="0" algn="l" defTabSz="914400" rtl="0" eaLnBrk="1" latinLnBrk="0" hangingPunct="1">
                        <a:lnSpc>
                          <a:spcPct val="90000"/>
                        </a:lnSpc>
                        <a:spcBef>
                          <a:spcPts val="1000"/>
                        </a:spcBef>
                        <a:buFont typeface="Arial" panose="020B0604020202020204" pitchFamily="34" charset="0"/>
                        <a:buNone/>
                      </a:pPr>
                      <a:r>
                        <a:rPr lang="en-IN" sz="2800" b="1" kern="1200" dirty="0">
                          <a:solidFill>
                            <a:schemeClr val="tx1"/>
                          </a:solidFill>
                          <a:latin typeface="Times New Roman" panose="02020603050405020304" pitchFamily="18" charset="0"/>
                          <a:ea typeface="+mn-ea"/>
                          <a:cs typeface="Times New Roman" panose="02020603050405020304" pitchFamily="18" charset="0"/>
                        </a:rPr>
                        <a:t>   </a:t>
                      </a:r>
                      <a:r>
                        <a:rPr lang="da-DK" sz="2400" b="0" kern="1200" dirty="0">
                          <a:solidFill>
                            <a:schemeClr val="tx1"/>
                          </a:solidFill>
                          <a:latin typeface="Times New Roman"/>
                          <a:ea typeface="+mn-ea"/>
                          <a:cs typeface="Times New Roman"/>
                        </a:rPr>
                        <a:t>Dr.Sincya , Sreyas George(2025)</a:t>
                      </a:r>
                    </a:p>
                  </a:txBody>
                  <a:tcPr anchor="ctr">
                    <a:lnL>
                      <a:noFill/>
                    </a:lnL>
                    <a:lnR>
                      <a:noFill/>
                    </a:lnR>
                    <a:lnT>
                      <a:noFill/>
                    </a:lnT>
                    <a:lnB>
                      <a:noFill/>
                    </a:lnB>
                    <a:noFill/>
                  </a:tcPr>
                </a:tc>
                <a:extLst>
                  <a:ext uri="{0D108BD9-81ED-4DB2-BD59-A6C34878D82A}">
                    <a16:rowId xmlns:a16="http://schemas.microsoft.com/office/drawing/2014/main" val="2920711085"/>
                  </a:ext>
                </a:extLst>
              </a:tr>
              <a:tr h="2404196">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sz="2400" b="1" kern="1200" dirty="0">
                          <a:solidFill>
                            <a:schemeClr val="tx1"/>
                          </a:solidFill>
                          <a:latin typeface="Times New Roman" panose="02020603050405020304" pitchFamily="18" charset="0"/>
                          <a:ea typeface="+mn-ea"/>
                          <a:cs typeface="Times New Roman" panose="02020603050405020304" pitchFamily="18" charset="0"/>
                        </a:rPr>
                        <a:t>Description:</a:t>
                      </a:r>
                      <a:endParaRPr lang="en-US" sz="2400" kern="1200" dirty="0">
                        <a:solidFill>
                          <a:schemeClr val="tx1"/>
                        </a:solidFill>
                        <a:latin typeface="Times New Roman"/>
                        <a:ea typeface="+mn-ea"/>
                        <a:cs typeface="Times New Roman"/>
                      </a:endParaRPr>
                    </a:p>
                    <a:p>
                      <a:pPr marL="0" indent="0" algn="l" defTabSz="914400" rtl="0" eaLnBrk="1" latinLnBrk="0" hangingPunct="1">
                        <a:lnSpc>
                          <a:spcPct val="90000"/>
                        </a:lnSpc>
                        <a:spcBef>
                          <a:spcPts val="1000"/>
                        </a:spcBef>
                        <a:buFont typeface="Arial" panose="020B0604020202020204" pitchFamily="34" charset="0"/>
                        <a:buNone/>
                      </a:pPr>
                      <a:r>
                        <a:rPr lang="en-US" sz="2400" kern="1200" dirty="0">
                          <a:solidFill>
                            <a:schemeClr val="tx1"/>
                          </a:solidFill>
                          <a:latin typeface="Times New Roman"/>
                          <a:ea typeface="+mn-ea"/>
                          <a:cs typeface="Times New Roman"/>
                        </a:rPr>
                        <a:t>         A web-based portal that connects farmers and Consumer for direct produce booking and transparent marketing.</a:t>
                      </a:r>
                    </a:p>
                    <a:p>
                      <a:pPr marL="0" indent="0" algn="l" defTabSz="914400" rtl="0" eaLnBrk="1" latinLnBrk="0" hangingPunct="1">
                        <a:lnSpc>
                          <a:spcPct val="90000"/>
                        </a:lnSpc>
                        <a:spcBef>
                          <a:spcPts val="1000"/>
                        </a:spcBef>
                        <a:buFont typeface="Arial" panose="020B0604020202020204" pitchFamily="34" charset="0"/>
                        <a:buNone/>
                      </a:pPr>
                      <a:r>
                        <a:rPr lang="en-US" sz="2800" b="1" kern="1200" dirty="0">
                          <a:solidFill>
                            <a:schemeClr val="tx1"/>
                          </a:solidFill>
                          <a:latin typeface="Times New Roman" panose="02020603050405020304" pitchFamily="18" charset="0"/>
                          <a:ea typeface="+mn-ea"/>
                          <a:cs typeface="Times New Roman" panose="02020603050405020304" pitchFamily="18" charset="0"/>
                        </a:rPr>
                        <a:t>Limitations:</a:t>
                      </a:r>
                    </a:p>
                    <a:p>
                      <a:pPr marL="0" indent="0" algn="l" defTabSz="914400" rtl="0" eaLnBrk="1" latinLnBrk="0" hangingPunct="1">
                        <a:lnSpc>
                          <a:spcPct val="90000"/>
                        </a:lnSpc>
                        <a:spcBef>
                          <a:spcPts val="1000"/>
                        </a:spcBef>
                        <a:buFont typeface="Arial" panose="020B0604020202020204" pitchFamily="34" charset="0"/>
                        <a:buNone/>
                      </a:pPr>
                      <a:r>
                        <a:rPr lang="en-US" sz="2800" b="1" kern="1200" dirty="0">
                          <a:solidFill>
                            <a:schemeClr val="tx1"/>
                          </a:solidFill>
                          <a:latin typeface="Times New Roman" panose="02020603050405020304" pitchFamily="18" charset="0"/>
                          <a:ea typeface="+mn-ea"/>
                          <a:cs typeface="Times New Roman" panose="02020603050405020304" pitchFamily="18" charset="0"/>
                        </a:rPr>
                        <a:t>      </a:t>
                      </a:r>
                      <a:r>
                        <a:rPr lang="en-US" sz="2400" kern="1200" dirty="0">
                          <a:solidFill>
                            <a:schemeClr val="tx1"/>
                          </a:solidFill>
                          <a:latin typeface="Times New Roman"/>
                          <a:ea typeface="+mn-ea"/>
                          <a:cs typeface="Times New Roman"/>
                        </a:rPr>
                        <a:t>Does not include real-time booking or farmer confirmation options.</a:t>
                      </a:r>
                      <a:r>
                        <a:rPr lang="en-US" sz="2400" dirty="0"/>
                        <a:t> </a:t>
                      </a:r>
                      <a:r>
                        <a:rPr lang="en-US" sz="2400" kern="1200" dirty="0">
                          <a:solidFill>
                            <a:schemeClr val="tx1"/>
                          </a:solidFill>
                          <a:latin typeface="Times New Roman"/>
                          <a:ea typeface="+mn-ea"/>
                          <a:cs typeface="Times New Roman"/>
                        </a:rPr>
                        <a:t>Limited scalability and lacks multilingual local language support for rural users.</a:t>
                      </a:r>
                      <a:endParaRPr lang="en-IN" sz="2400" kern="1200" dirty="0">
                        <a:solidFill>
                          <a:schemeClr val="tx1"/>
                        </a:solidFill>
                        <a:latin typeface="Times New Roman"/>
                        <a:ea typeface="+mn-ea"/>
                        <a:cs typeface="Times New Roman"/>
                      </a:endParaRPr>
                    </a:p>
                  </a:txBody>
                  <a:tcPr anchor="ctr">
                    <a:lnL>
                      <a:noFill/>
                    </a:lnL>
                    <a:lnR>
                      <a:noFill/>
                    </a:lnR>
                    <a:lnT>
                      <a:noFill/>
                    </a:lnT>
                    <a:lnB>
                      <a:noFill/>
                    </a:lnB>
                    <a:noFill/>
                  </a:tcPr>
                </a:tc>
                <a:extLst>
                  <a:ext uri="{0D108BD9-81ED-4DB2-BD59-A6C34878D82A}">
                    <a16:rowId xmlns:a16="http://schemas.microsoft.com/office/drawing/2014/main" val="3712239717"/>
                  </a:ext>
                </a:extLst>
              </a:tr>
            </a:tbl>
          </a:graphicData>
        </a:graphic>
      </p:graphicFrame>
    </p:spTree>
    <p:extLst>
      <p:ext uri="{BB962C8B-B14F-4D97-AF65-F5344CB8AC3E}">
        <p14:creationId xmlns:p14="http://schemas.microsoft.com/office/powerpoint/2010/main" val="2840318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BA148-D5EB-5AB6-5E57-F09832CB3579}"/>
              </a:ext>
            </a:extLst>
          </p:cNvPr>
          <p:cNvSpPr>
            <a:spLocks noGrp="1"/>
          </p:cNvSpPr>
          <p:nvPr>
            <p:ph type="ctrTitle"/>
          </p:nvPr>
        </p:nvSpPr>
        <p:spPr>
          <a:xfrm>
            <a:off x="1524000" y="61442"/>
            <a:ext cx="9144000" cy="619125"/>
          </a:xfrm>
        </p:spPr>
        <p:txBody>
          <a:bodyPr>
            <a:normAutofit/>
          </a:bodyPr>
          <a:lstStyle/>
          <a:p>
            <a:r>
              <a:rPr lang="en-IN" sz="3400" b="1" dirty="0">
                <a:latin typeface="Times New Roman" panose="02020603050405020304" pitchFamily="18" charset="0"/>
                <a:cs typeface="Times New Roman" panose="02020603050405020304" pitchFamily="18" charset="0"/>
              </a:rPr>
              <a:t>SYSTEM ARCHITECTURE</a:t>
            </a:r>
          </a:p>
        </p:txBody>
      </p:sp>
      <p:grpSp>
        <p:nvGrpSpPr>
          <p:cNvPr id="4" name="Canvas 5">
            <a:extLst>
              <a:ext uri="{FF2B5EF4-FFF2-40B4-BE49-F238E27FC236}">
                <a16:creationId xmlns:a16="http://schemas.microsoft.com/office/drawing/2014/main" id="{445F0FA3-684C-AA01-950C-D72D6C9D0A34}"/>
              </a:ext>
            </a:extLst>
          </p:cNvPr>
          <p:cNvGrpSpPr/>
          <p:nvPr/>
        </p:nvGrpSpPr>
        <p:grpSpPr>
          <a:xfrm>
            <a:off x="2609850" y="680567"/>
            <a:ext cx="6686550" cy="6115991"/>
            <a:chOff x="57150" y="35999"/>
            <a:chExt cx="5864860" cy="7095490"/>
          </a:xfrm>
        </p:grpSpPr>
        <p:sp>
          <p:nvSpPr>
            <p:cNvPr id="6" name="Text Box 110">
              <a:extLst>
                <a:ext uri="{FF2B5EF4-FFF2-40B4-BE49-F238E27FC236}">
                  <a16:creationId xmlns:a16="http://schemas.microsoft.com/office/drawing/2014/main" id="{9DF6F829-DB9E-2E6E-CD83-CC5653CFE85D}"/>
                </a:ext>
              </a:extLst>
            </p:cNvPr>
            <p:cNvSpPr txBox="1">
              <a:spLocks noChangeArrowheads="1"/>
            </p:cNvSpPr>
            <p:nvPr/>
          </p:nvSpPr>
          <p:spPr bwMode="auto">
            <a:xfrm>
              <a:off x="1144905" y="35999"/>
              <a:ext cx="3877945" cy="477520"/>
            </a:xfrm>
            <a:prstGeom prst="rect">
              <a:avLst/>
            </a:prstGeom>
            <a:gradFill rotWithShape="0">
              <a:gsLst>
                <a:gs pos="0">
                  <a:schemeClr val="accent6">
                    <a:lumMod val="60000"/>
                    <a:lumOff val="40000"/>
                  </a:schemeClr>
                </a:gs>
                <a:gs pos="50000">
                  <a:schemeClr val="accent6">
                    <a:lumMod val="20000"/>
                    <a:lumOff val="80000"/>
                  </a:schemeClr>
                </a:gs>
                <a:gs pos="100000">
                  <a:schemeClr val="accent6">
                    <a:lumMod val="60000"/>
                    <a:lumOff val="40000"/>
                  </a:schemeClr>
                </a:gs>
              </a:gsLst>
              <a:lin ang="18900000" scaled="1"/>
            </a:gradFill>
            <a:ln w="12700">
              <a:solidFill>
                <a:schemeClr val="accent6">
                  <a:lumMod val="60000"/>
                  <a:lumOff val="40000"/>
                </a:schemeClr>
              </a:solidFill>
              <a:miter lim="800000"/>
              <a:headEnd/>
              <a:tailEnd/>
            </a:ln>
            <a:effectLst>
              <a:outerShdw dist="28398" dir="3806097" algn="ctr" rotWithShape="0">
                <a:schemeClr val="accent6">
                  <a:lumMod val="50000"/>
                  <a:lumOff val="0"/>
                  <a:alpha val="50000"/>
                </a:schemeClr>
              </a:outerShdw>
            </a:effectLst>
          </p:spPr>
          <p:txBody>
            <a:bodyPr rot="0" vert="horz" wrap="square" lIns="91440" tIns="45720" rIns="91440" bIns="45720" anchor="t" anchorCtr="0" upright="1">
              <a:noAutofit/>
            </a:bodyPr>
            <a:lstStyle/>
            <a:p>
              <a:pPr algn="ctr">
                <a:buNone/>
              </a:pPr>
              <a:r>
                <a:rPr lang="en-US" sz="1200" b="1">
                  <a:effectLst/>
                  <a:latin typeface="Times New Roman" panose="02020603050405020304" pitchFamily="18" charset="0"/>
                  <a:ea typeface="Times New Roman" panose="02020603050405020304" pitchFamily="18" charset="0"/>
                </a:rPr>
                <a:t>SMART FARM TO SHOP MANAGEMENT AND BOOKING SYSTEM</a:t>
              </a:r>
              <a:endParaRPr lang="en-IN" sz="1100">
                <a:effectLst/>
                <a:latin typeface="Times New Roman" panose="02020603050405020304" pitchFamily="18" charset="0"/>
                <a:ea typeface="Times New Roman" panose="02020603050405020304" pitchFamily="18" charset="0"/>
              </a:endParaRPr>
            </a:p>
            <a:p>
              <a:pPr>
                <a:buNone/>
              </a:pPr>
              <a:r>
                <a:rPr lang="en-US" sz="1200">
                  <a:effectLst/>
                  <a:latin typeface="Times New Roman" panose="02020603050405020304" pitchFamily="18" charset="0"/>
                  <a:ea typeface="Times New Roman" panose="02020603050405020304" pitchFamily="18" charset="0"/>
                </a:rPr>
                <a:t> </a:t>
              </a:r>
              <a:endParaRPr lang="en-IN" sz="1100">
                <a:effectLst/>
                <a:latin typeface="Times New Roman" panose="02020603050405020304" pitchFamily="18" charset="0"/>
                <a:ea typeface="Times New Roman" panose="02020603050405020304" pitchFamily="18" charset="0"/>
              </a:endParaRPr>
            </a:p>
          </p:txBody>
        </p:sp>
        <p:sp>
          <p:nvSpPr>
            <p:cNvPr id="7" name="AutoShape 5">
              <a:extLst>
                <a:ext uri="{FF2B5EF4-FFF2-40B4-BE49-F238E27FC236}">
                  <a16:creationId xmlns:a16="http://schemas.microsoft.com/office/drawing/2014/main" id="{00E9F46B-BEBA-469D-8F60-A32CC01A3B4E}"/>
                </a:ext>
              </a:extLst>
            </p:cNvPr>
            <p:cNvSpPr>
              <a:spLocks noChangeArrowheads="1"/>
            </p:cNvSpPr>
            <p:nvPr/>
          </p:nvSpPr>
          <p:spPr bwMode="auto">
            <a:xfrm>
              <a:off x="57150" y="1529519"/>
              <a:ext cx="1778635" cy="3359150"/>
            </a:xfrm>
            <a:prstGeom prst="roundRect">
              <a:avLst>
                <a:gd name="adj" fmla="val 16667"/>
              </a:avLst>
            </a:prstGeom>
            <a:gradFill rotWithShape="0">
              <a:gsLst>
                <a:gs pos="0">
                  <a:schemeClr val="lt1">
                    <a:lumMod val="100000"/>
                    <a:lumOff val="0"/>
                  </a:schemeClr>
                </a:gs>
                <a:gs pos="100000">
                  <a:schemeClr val="accent5">
                    <a:lumMod val="40000"/>
                    <a:lumOff val="60000"/>
                  </a:schemeClr>
                </a:gs>
              </a:gsLst>
              <a:lin ang="5400000" scaled="1"/>
            </a:gradFill>
            <a:ln w="12700">
              <a:solidFill>
                <a:schemeClr val="accent5">
                  <a:lumMod val="60000"/>
                  <a:lumOff val="40000"/>
                </a:schemeClr>
              </a:solidFill>
              <a:round/>
              <a:headEnd/>
              <a:tailEnd/>
            </a:ln>
            <a:effectLst>
              <a:outerShdw dist="28398" dir="3806097" algn="ctr" rotWithShape="0">
                <a:schemeClr val="accent5">
                  <a:lumMod val="50000"/>
                  <a:lumOff val="0"/>
                  <a:alpha val="50000"/>
                </a:schemeClr>
              </a:outerShdw>
            </a:effectLst>
          </p:spPr>
          <p:txBody>
            <a:bodyPr rot="0" vert="horz" wrap="square" lIns="91440" tIns="45720" rIns="91440" bIns="45720" anchor="t" anchorCtr="0" upright="1">
              <a:noAutofit/>
            </a:bodyPr>
            <a:lstStyle/>
            <a:p>
              <a:endParaRPr lang="en-IN"/>
            </a:p>
          </p:txBody>
        </p:sp>
        <p:sp>
          <p:nvSpPr>
            <p:cNvPr id="8" name="AutoShape 6">
              <a:extLst>
                <a:ext uri="{FF2B5EF4-FFF2-40B4-BE49-F238E27FC236}">
                  <a16:creationId xmlns:a16="http://schemas.microsoft.com/office/drawing/2014/main" id="{CD7ECD67-CF25-1044-BD12-CD5C5F0AC5A1}"/>
                </a:ext>
              </a:extLst>
            </p:cNvPr>
            <p:cNvSpPr>
              <a:spLocks noChangeArrowheads="1"/>
            </p:cNvSpPr>
            <p:nvPr/>
          </p:nvSpPr>
          <p:spPr bwMode="auto">
            <a:xfrm>
              <a:off x="4119245" y="1529519"/>
              <a:ext cx="1802765" cy="5061585"/>
            </a:xfrm>
            <a:prstGeom prst="roundRect">
              <a:avLst>
                <a:gd name="adj" fmla="val 16667"/>
              </a:avLst>
            </a:prstGeom>
            <a:gradFill rotWithShape="0">
              <a:gsLst>
                <a:gs pos="0">
                  <a:schemeClr val="lt1">
                    <a:lumMod val="100000"/>
                    <a:lumOff val="0"/>
                  </a:schemeClr>
                </a:gs>
                <a:gs pos="100000">
                  <a:schemeClr val="accent5">
                    <a:lumMod val="40000"/>
                    <a:lumOff val="60000"/>
                  </a:schemeClr>
                </a:gs>
              </a:gsLst>
              <a:lin ang="5400000" scaled="1"/>
            </a:gradFill>
            <a:ln w="12700">
              <a:solidFill>
                <a:schemeClr val="accent5">
                  <a:lumMod val="60000"/>
                  <a:lumOff val="40000"/>
                </a:schemeClr>
              </a:solidFill>
              <a:round/>
              <a:headEnd/>
              <a:tailEnd/>
            </a:ln>
            <a:effectLst>
              <a:outerShdw dist="28398" dir="3806097" algn="ctr" rotWithShape="0">
                <a:schemeClr val="accent5">
                  <a:lumMod val="50000"/>
                  <a:lumOff val="0"/>
                  <a:alpha val="50000"/>
                </a:schemeClr>
              </a:outerShdw>
            </a:effectLst>
          </p:spPr>
          <p:txBody>
            <a:bodyPr rot="0" vert="horz" wrap="square" lIns="91440" tIns="45720" rIns="91440" bIns="45720" anchor="t" anchorCtr="0" upright="1">
              <a:noAutofit/>
            </a:bodyPr>
            <a:lstStyle/>
            <a:p>
              <a:endParaRPr lang="en-IN" dirty="0"/>
            </a:p>
          </p:txBody>
        </p:sp>
        <p:sp>
          <p:nvSpPr>
            <p:cNvPr id="9" name="Rectangle 8">
              <a:extLst>
                <a:ext uri="{FF2B5EF4-FFF2-40B4-BE49-F238E27FC236}">
                  <a16:creationId xmlns:a16="http://schemas.microsoft.com/office/drawing/2014/main" id="{32EF91CA-9809-ACDE-92CC-A58B2C9330A4}"/>
                </a:ext>
              </a:extLst>
            </p:cNvPr>
            <p:cNvSpPr>
              <a:spLocks noChangeArrowheads="1"/>
            </p:cNvSpPr>
            <p:nvPr/>
          </p:nvSpPr>
          <p:spPr bwMode="auto">
            <a:xfrm>
              <a:off x="539750" y="822129"/>
              <a:ext cx="826770" cy="329565"/>
            </a:xfrm>
            <a:prstGeom prst="rect">
              <a:avLst/>
            </a:prstGeom>
            <a:gradFill rotWithShape="0">
              <a:gsLst>
                <a:gs pos="0">
                  <a:schemeClr val="accent5">
                    <a:lumMod val="60000"/>
                    <a:lumOff val="40000"/>
                  </a:schemeClr>
                </a:gs>
                <a:gs pos="50000">
                  <a:schemeClr val="accent5">
                    <a:lumMod val="20000"/>
                    <a:lumOff val="80000"/>
                  </a:schemeClr>
                </a:gs>
                <a:gs pos="100000">
                  <a:schemeClr val="accent5">
                    <a:lumMod val="60000"/>
                    <a:lumOff val="40000"/>
                  </a:schemeClr>
                </a:gs>
              </a:gsLst>
              <a:lin ang="18900000" scaled="1"/>
            </a:gradFill>
            <a:ln w="12700">
              <a:solidFill>
                <a:schemeClr val="accent5">
                  <a:lumMod val="60000"/>
                  <a:lumOff val="40000"/>
                </a:schemeClr>
              </a:solidFill>
              <a:miter lim="800000"/>
              <a:headEnd/>
              <a:tailEnd/>
            </a:ln>
            <a:effectLst>
              <a:outerShdw dist="28398" dir="3806097" algn="ctr" rotWithShape="0">
                <a:schemeClr val="accent5">
                  <a:lumMod val="50000"/>
                  <a:lumOff val="0"/>
                  <a:alpha val="50000"/>
                </a:schemeClr>
              </a:outerShdw>
            </a:effectLst>
          </p:spPr>
          <p:txBody>
            <a:bodyPr rot="0" vert="horz" wrap="square" lIns="91440" tIns="45720" rIns="91440" bIns="45720" anchor="t" anchorCtr="0" upright="1">
              <a:noAutofit/>
            </a:bodyPr>
            <a:lstStyle/>
            <a:p>
              <a:pPr>
                <a:buNone/>
              </a:pPr>
              <a:r>
                <a:rPr lang="en-US" sz="1200" b="1">
                  <a:effectLst/>
                  <a:latin typeface="Times New Roman" panose="02020603050405020304" pitchFamily="18" charset="0"/>
                  <a:ea typeface="Times New Roman" panose="02020603050405020304" pitchFamily="18" charset="0"/>
                </a:rPr>
                <a:t>    Admin</a:t>
              </a:r>
              <a:endParaRPr lang="en-IN" sz="1100">
                <a:effectLst/>
                <a:latin typeface="Times New Roman" panose="02020603050405020304" pitchFamily="18" charset="0"/>
                <a:ea typeface="Times New Roman" panose="02020603050405020304" pitchFamily="18" charset="0"/>
              </a:endParaRPr>
            </a:p>
          </p:txBody>
        </p:sp>
        <p:sp>
          <p:nvSpPr>
            <p:cNvPr id="10" name="Rectangle 9">
              <a:extLst>
                <a:ext uri="{FF2B5EF4-FFF2-40B4-BE49-F238E27FC236}">
                  <a16:creationId xmlns:a16="http://schemas.microsoft.com/office/drawing/2014/main" id="{ECEE94C0-CF7E-382D-40B2-629556A9FE7A}"/>
                </a:ext>
              </a:extLst>
            </p:cNvPr>
            <p:cNvSpPr>
              <a:spLocks noChangeArrowheads="1"/>
            </p:cNvSpPr>
            <p:nvPr/>
          </p:nvSpPr>
          <p:spPr bwMode="auto">
            <a:xfrm>
              <a:off x="4336415" y="822129"/>
              <a:ext cx="1156335" cy="353695"/>
            </a:xfrm>
            <a:prstGeom prst="rect">
              <a:avLst/>
            </a:prstGeom>
            <a:gradFill rotWithShape="0">
              <a:gsLst>
                <a:gs pos="0">
                  <a:schemeClr val="accent5">
                    <a:lumMod val="60000"/>
                    <a:lumOff val="40000"/>
                  </a:schemeClr>
                </a:gs>
                <a:gs pos="50000">
                  <a:schemeClr val="accent5">
                    <a:lumMod val="20000"/>
                    <a:lumOff val="80000"/>
                  </a:schemeClr>
                </a:gs>
                <a:gs pos="100000">
                  <a:schemeClr val="accent5">
                    <a:lumMod val="60000"/>
                    <a:lumOff val="40000"/>
                  </a:schemeClr>
                </a:gs>
              </a:gsLst>
              <a:lin ang="18900000" scaled="1"/>
            </a:gradFill>
            <a:ln w="12700">
              <a:solidFill>
                <a:schemeClr val="accent5">
                  <a:lumMod val="60000"/>
                  <a:lumOff val="40000"/>
                </a:schemeClr>
              </a:solidFill>
              <a:miter lim="800000"/>
              <a:headEnd/>
              <a:tailEnd/>
            </a:ln>
            <a:effectLst>
              <a:outerShdw dist="28398" dir="3806097" algn="ctr" rotWithShape="0">
                <a:schemeClr val="accent5">
                  <a:lumMod val="50000"/>
                  <a:lumOff val="0"/>
                  <a:alpha val="50000"/>
                </a:schemeClr>
              </a:outerShdw>
            </a:effectLst>
          </p:spPr>
          <p:txBody>
            <a:bodyPr rot="0" vert="horz" wrap="square" lIns="91440" tIns="45720" rIns="91440" bIns="45720" anchor="t" anchorCtr="0" upright="1">
              <a:noAutofit/>
            </a:bodyPr>
            <a:lstStyle/>
            <a:p>
              <a:pPr algn="ctr">
                <a:buNone/>
              </a:pPr>
              <a:r>
                <a:rPr lang="en-US" sz="1200" b="1">
                  <a:effectLst/>
                  <a:latin typeface="Times New Roman" panose="02020603050405020304" pitchFamily="18" charset="0"/>
                  <a:ea typeface="Times New Roman" panose="02020603050405020304" pitchFamily="18" charset="0"/>
                </a:rPr>
                <a:t>Shopkeeper </a:t>
              </a:r>
              <a:endParaRPr lang="en-IN" sz="1100">
                <a:effectLst/>
                <a:latin typeface="Times New Roman" panose="02020603050405020304" pitchFamily="18" charset="0"/>
                <a:ea typeface="Times New Roman" panose="02020603050405020304" pitchFamily="18" charset="0"/>
              </a:endParaRPr>
            </a:p>
          </p:txBody>
        </p:sp>
        <p:sp>
          <p:nvSpPr>
            <p:cNvPr id="11" name="Rectangle 10">
              <a:extLst>
                <a:ext uri="{FF2B5EF4-FFF2-40B4-BE49-F238E27FC236}">
                  <a16:creationId xmlns:a16="http://schemas.microsoft.com/office/drawing/2014/main" id="{C75B1823-4237-53BD-2933-73FE85A8740E}"/>
                </a:ext>
              </a:extLst>
            </p:cNvPr>
            <p:cNvSpPr>
              <a:spLocks noChangeArrowheads="1"/>
            </p:cNvSpPr>
            <p:nvPr/>
          </p:nvSpPr>
          <p:spPr bwMode="auto">
            <a:xfrm>
              <a:off x="287020" y="1697794"/>
              <a:ext cx="1351280" cy="29273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buNone/>
              </a:pPr>
              <a:r>
                <a:rPr lang="en-US" sz="1200">
                  <a:effectLst/>
                  <a:latin typeface="Times New Roman" panose="02020603050405020304" pitchFamily="18" charset="0"/>
                  <a:ea typeface="Times New Roman" panose="02020603050405020304" pitchFamily="18" charset="0"/>
                </a:rPr>
                <a:t>         Login</a:t>
              </a:r>
              <a:endParaRPr lang="en-IN" sz="1100">
                <a:effectLst/>
                <a:latin typeface="Times New Roman" panose="02020603050405020304" pitchFamily="18" charset="0"/>
                <a:ea typeface="Times New Roman" panose="02020603050405020304" pitchFamily="18" charset="0"/>
              </a:endParaRPr>
            </a:p>
          </p:txBody>
        </p:sp>
        <p:sp>
          <p:nvSpPr>
            <p:cNvPr id="12" name="Rectangle 11">
              <a:extLst>
                <a:ext uri="{FF2B5EF4-FFF2-40B4-BE49-F238E27FC236}">
                  <a16:creationId xmlns:a16="http://schemas.microsoft.com/office/drawing/2014/main" id="{C80A55AC-E566-A8D3-68AD-7C5BFD2AD850}"/>
                </a:ext>
              </a:extLst>
            </p:cNvPr>
            <p:cNvSpPr>
              <a:spLocks noChangeArrowheads="1"/>
            </p:cNvSpPr>
            <p:nvPr/>
          </p:nvSpPr>
          <p:spPr bwMode="auto">
            <a:xfrm>
              <a:off x="287020" y="2151819"/>
              <a:ext cx="1351280" cy="35877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buNone/>
              </a:pPr>
              <a:r>
                <a:rPr lang="en-US" sz="1200">
                  <a:solidFill>
                    <a:srgbClr val="000000"/>
                  </a:solidFill>
                  <a:effectLst/>
                  <a:latin typeface="Times New Roman" panose="02020603050405020304" pitchFamily="18" charset="0"/>
                  <a:ea typeface="Times New Roman" panose="02020603050405020304" pitchFamily="18" charset="0"/>
                </a:rPr>
                <a:t>View Details</a:t>
              </a:r>
              <a:endParaRPr lang="en-IN" sz="1100">
                <a:effectLst/>
                <a:latin typeface="Times New Roman" panose="02020603050405020304" pitchFamily="18" charset="0"/>
                <a:ea typeface="Times New Roman" panose="02020603050405020304" pitchFamily="18" charset="0"/>
              </a:endParaRPr>
            </a:p>
          </p:txBody>
        </p:sp>
        <p:sp>
          <p:nvSpPr>
            <p:cNvPr id="13" name="Rectangle 12">
              <a:extLst>
                <a:ext uri="{FF2B5EF4-FFF2-40B4-BE49-F238E27FC236}">
                  <a16:creationId xmlns:a16="http://schemas.microsoft.com/office/drawing/2014/main" id="{176868EF-3DC3-CD67-BC36-CA28C9F589A1}"/>
                </a:ext>
              </a:extLst>
            </p:cNvPr>
            <p:cNvSpPr>
              <a:spLocks noChangeArrowheads="1"/>
            </p:cNvSpPr>
            <p:nvPr/>
          </p:nvSpPr>
          <p:spPr bwMode="auto">
            <a:xfrm>
              <a:off x="258445" y="2674424"/>
              <a:ext cx="1379855" cy="34099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57150" algn="ctr">
                <a:lnSpc>
                  <a:spcPct val="150000"/>
                </a:lnSpc>
                <a:buNone/>
              </a:pPr>
              <a:r>
                <a:rPr lang="en-US" sz="1200">
                  <a:solidFill>
                    <a:srgbClr val="000000"/>
                  </a:solidFill>
                  <a:effectLst/>
                  <a:latin typeface="Times New Roman" panose="02020603050405020304" pitchFamily="18" charset="0"/>
                  <a:ea typeface="Times New Roman" panose="02020603050405020304" pitchFamily="18" charset="0"/>
                </a:rPr>
                <a:t>Delete account </a:t>
              </a:r>
              <a:endParaRPr lang="en-IN" sz="1100">
                <a:effectLst/>
                <a:latin typeface="Times New Roman" panose="02020603050405020304" pitchFamily="18" charset="0"/>
                <a:ea typeface="Times New Roman" panose="02020603050405020304" pitchFamily="18" charset="0"/>
              </a:endParaRPr>
            </a:p>
            <a:p>
              <a:pPr>
                <a:buNone/>
              </a:pPr>
              <a:r>
                <a:rPr lang="en-US" sz="1200">
                  <a:effectLst/>
                  <a:latin typeface="Times New Roman" panose="02020603050405020304" pitchFamily="18" charset="0"/>
                  <a:ea typeface="Times New Roman" panose="02020603050405020304" pitchFamily="18" charset="0"/>
                </a:rPr>
                <a:t> </a:t>
              </a:r>
              <a:endParaRPr lang="en-IN" sz="1100">
                <a:effectLst/>
                <a:latin typeface="Times New Roman" panose="02020603050405020304" pitchFamily="18" charset="0"/>
                <a:ea typeface="Times New Roman" panose="02020603050405020304" pitchFamily="18" charset="0"/>
              </a:endParaRPr>
            </a:p>
          </p:txBody>
        </p:sp>
        <p:sp>
          <p:nvSpPr>
            <p:cNvPr id="14" name="Rectangle 13">
              <a:extLst>
                <a:ext uri="{FF2B5EF4-FFF2-40B4-BE49-F238E27FC236}">
                  <a16:creationId xmlns:a16="http://schemas.microsoft.com/office/drawing/2014/main" id="{D5311591-4FE1-39DC-67E0-6D6A21B92A22}"/>
                </a:ext>
              </a:extLst>
            </p:cNvPr>
            <p:cNvSpPr>
              <a:spLocks noChangeArrowheads="1"/>
            </p:cNvSpPr>
            <p:nvPr/>
          </p:nvSpPr>
          <p:spPr bwMode="auto">
            <a:xfrm>
              <a:off x="4336415" y="1761294"/>
              <a:ext cx="1373505" cy="34925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buNone/>
              </a:pPr>
              <a:r>
                <a:rPr lang="en-US" sz="1200">
                  <a:effectLst/>
                  <a:latin typeface="Times New Roman" panose="02020603050405020304" pitchFamily="18" charset="0"/>
                  <a:ea typeface="Times New Roman" panose="02020603050405020304" pitchFamily="18" charset="0"/>
                </a:rPr>
                <a:t>Register</a:t>
              </a:r>
              <a:endParaRPr lang="en-IN" sz="1100">
                <a:effectLst/>
                <a:latin typeface="Times New Roman" panose="02020603050405020304" pitchFamily="18" charset="0"/>
                <a:ea typeface="Times New Roman" panose="02020603050405020304" pitchFamily="18" charset="0"/>
              </a:endParaRPr>
            </a:p>
          </p:txBody>
        </p:sp>
        <p:sp>
          <p:nvSpPr>
            <p:cNvPr id="15" name="Rectangle 14">
              <a:extLst>
                <a:ext uri="{FF2B5EF4-FFF2-40B4-BE49-F238E27FC236}">
                  <a16:creationId xmlns:a16="http://schemas.microsoft.com/office/drawing/2014/main" id="{EF54D6CA-4EDE-337C-F2A4-822EAFFE02FA}"/>
                </a:ext>
              </a:extLst>
            </p:cNvPr>
            <p:cNvSpPr>
              <a:spLocks noChangeArrowheads="1"/>
            </p:cNvSpPr>
            <p:nvPr/>
          </p:nvSpPr>
          <p:spPr bwMode="auto">
            <a:xfrm>
              <a:off x="4336415" y="3517704"/>
              <a:ext cx="1373505" cy="35941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buNone/>
              </a:pPr>
              <a:r>
                <a:rPr lang="en-US" sz="1200">
                  <a:solidFill>
                    <a:srgbClr val="000000"/>
                  </a:solidFill>
                  <a:effectLst/>
                  <a:latin typeface="Times New Roman" panose="02020603050405020304" pitchFamily="18" charset="0"/>
                  <a:ea typeface="Times New Roman" panose="02020603050405020304" pitchFamily="18" charset="0"/>
                </a:rPr>
                <a:t>Demand request</a:t>
              </a:r>
              <a:endParaRPr lang="en-IN" sz="1100">
                <a:effectLst/>
                <a:latin typeface="Times New Roman" panose="02020603050405020304" pitchFamily="18" charset="0"/>
                <a:ea typeface="Times New Roman" panose="02020603050405020304" pitchFamily="18" charset="0"/>
              </a:endParaRPr>
            </a:p>
            <a:p>
              <a:pPr algn="ctr">
                <a:buNone/>
              </a:pPr>
              <a:r>
                <a:rPr lang="en-US" sz="1200">
                  <a:effectLst/>
                  <a:latin typeface="Times New Roman" panose="02020603050405020304" pitchFamily="18" charset="0"/>
                  <a:ea typeface="Times New Roman" panose="02020603050405020304" pitchFamily="18" charset="0"/>
                </a:rPr>
                <a:t> </a:t>
              </a:r>
              <a:endParaRPr lang="en-IN" sz="1100">
                <a:effectLst/>
                <a:latin typeface="Times New Roman" panose="02020603050405020304" pitchFamily="18" charset="0"/>
                <a:ea typeface="Times New Roman" panose="02020603050405020304" pitchFamily="18" charset="0"/>
              </a:endParaRPr>
            </a:p>
          </p:txBody>
        </p:sp>
        <p:cxnSp>
          <p:nvCxnSpPr>
            <p:cNvPr id="16" name="AutoShape 14">
              <a:extLst>
                <a:ext uri="{FF2B5EF4-FFF2-40B4-BE49-F238E27FC236}">
                  <a16:creationId xmlns:a16="http://schemas.microsoft.com/office/drawing/2014/main" id="{2387B645-D209-F3DD-BDCF-EB4D0C7C9027}"/>
                </a:ext>
              </a:extLst>
            </p:cNvPr>
            <p:cNvCxnSpPr>
              <a:cxnSpLocks noChangeShapeType="1"/>
              <a:stCxn id="9" idx="2"/>
              <a:endCxn id="7" idx="0"/>
            </p:cNvCxnSpPr>
            <p:nvPr/>
          </p:nvCxnSpPr>
          <p:spPr bwMode="auto">
            <a:xfrm flipH="1">
              <a:off x="946785" y="1151694"/>
              <a:ext cx="6350" cy="3778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 name="AutoShape 15">
              <a:extLst>
                <a:ext uri="{FF2B5EF4-FFF2-40B4-BE49-F238E27FC236}">
                  <a16:creationId xmlns:a16="http://schemas.microsoft.com/office/drawing/2014/main" id="{7D9179A6-20C1-7017-AD97-F5B1A9151BC1}"/>
                </a:ext>
              </a:extLst>
            </p:cNvPr>
            <p:cNvCxnSpPr>
              <a:cxnSpLocks noChangeShapeType="1"/>
            </p:cNvCxnSpPr>
            <p:nvPr/>
          </p:nvCxnSpPr>
          <p:spPr bwMode="auto">
            <a:xfrm>
              <a:off x="5020310" y="1217734"/>
              <a:ext cx="635" cy="31178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8" name="Rectangle 17">
              <a:extLst>
                <a:ext uri="{FF2B5EF4-FFF2-40B4-BE49-F238E27FC236}">
                  <a16:creationId xmlns:a16="http://schemas.microsoft.com/office/drawing/2014/main" id="{4DAB58B1-CB65-0749-B046-EA70DA8E0A3E}"/>
                </a:ext>
              </a:extLst>
            </p:cNvPr>
            <p:cNvSpPr>
              <a:spLocks noChangeArrowheads="1"/>
            </p:cNvSpPr>
            <p:nvPr/>
          </p:nvSpPr>
          <p:spPr bwMode="auto">
            <a:xfrm>
              <a:off x="287020" y="3235764"/>
              <a:ext cx="1379855" cy="37909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800"/>
                </a:spcAft>
                <a:buNone/>
              </a:pPr>
              <a:r>
                <a:rPr lang="en-US" sz="1200" dirty="0">
                  <a:effectLst/>
                  <a:latin typeface="Times New Roman" panose="02020603050405020304" pitchFamily="18" charset="0"/>
                  <a:ea typeface="Times New Roman" panose="02020603050405020304" pitchFamily="18" charset="0"/>
                </a:rPr>
                <a:t>View Sales Report </a:t>
              </a:r>
              <a:endParaRPr lang="en-IN" sz="1100" dirty="0">
                <a:effectLst/>
                <a:latin typeface="Times New Roman" panose="02020603050405020304" pitchFamily="18" charset="0"/>
                <a:ea typeface="Times New Roman" panose="02020603050405020304" pitchFamily="18" charset="0"/>
              </a:endParaRPr>
            </a:p>
            <a:p>
              <a:pPr>
                <a:buNone/>
              </a:pPr>
              <a:r>
                <a:rPr lang="en-US" sz="1200" dirty="0">
                  <a:effectLst/>
                  <a:latin typeface="Times New Roman" panose="02020603050405020304" pitchFamily="18" charset="0"/>
                  <a:ea typeface="Times New Roman" panose="02020603050405020304" pitchFamily="18" charset="0"/>
                </a:rPr>
                <a:t> </a:t>
              </a:r>
              <a:endParaRPr lang="en-IN" sz="1100" dirty="0">
                <a:effectLst/>
                <a:latin typeface="Times New Roman" panose="02020603050405020304" pitchFamily="18" charset="0"/>
                <a:ea typeface="Times New Roman" panose="02020603050405020304" pitchFamily="18" charset="0"/>
              </a:endParaRPr>
            </a:p>
          </p:txBody>
        </p:sp>
        <p:sp>
          <p:nvSpPr>
            <p:cNvPr id="19" name="Rectangle 18">
              <a:extLst>
                <a:ext uri="{FF2B5EF4-FFF2-40B4-BE49-F238E27FC236}">
                  <a16:creationId xmlns:a16="http://schemas.microsoft.com/office/drawing/2014/main" id="{9E224395-63CA-4D0F-5915-4CC3B7811068}"/>
                </a:ext>
              </a:extLst>
            </p:cNvPr>
            <p:cNvSpPr>
              <a:spLocks noChangeArrowheads="1"/>
            </p:cNvSpPr>
            <p:nvPr/>
          </p:nvSpPr>
          <p:spPr bwMode="auto">
            <a:xfrm>
              <a:off x="4336415" y="2281994"/>
              <a:ext cx="1373505" cy="34925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buNone/>
              </a:pPr>
              <a:r>
                <a:rPr lang="en-US" sz="1200">
                  <a:effectLst/>
                  <a:latin typeface="Times New Roman" panose="02020603050405020304" pitchFamily="18" charset="0"/>
                  <a:ea typeface="Times New Roman" panose="02020603050405020304" pitchFamily="18" charset="0"/>
                </a:rPr>
                <a:t>Login</a:t>
              </a:r>
              <a:endParaRPr lang="en-IN" sz="1100">
                <a:effectLst/>
                <a:latin typeface="Times New Roman" panose="02020603050405020304" pitchFamily="18" charset="0"/>
                <a:ea typeface="Times New Roman" panose="02020603050405020304" pitchFamily="18" charset="0"/>
              </a:endParaRPr>
            </a:p>
          </p:txBody>
        </p:sp>
        <p:sp>
          <p:nvSpPr>
            <p:cNvPr id="20" name="Rectangle 19">
              <a:extLst>
                <a:ext uri="{FF2B5EF4-FFF2-40B4-BE49-F238E27FC236}">
                  <a16:creationId xmlns:a16="http://schemas.microsoft.com/office/drawing/2014/main" id="{E7BD9A64-0417-D1BA-4E0A-839C3A583653}"/>
                </a:ext>
              </a:extLst>
            </p:cNvPr>
            <p:cNvSpPr>
              <a:spLocks noChangeArrowheads="1"/>
            </p:cNvSpPr>
            <p:nvPr/>
          </p:nvSpPr>
          <p:spPr bwMode="auto">
            <a:xfrm>
              <a:off x="4336415" y="4653084"/>
              <a:ext cx="1373505" cy="42989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nSpc>
                  <a:spcPct val="150000"/>
                </a:lnSpc>
                <a:buNone/>
              </a:pPr>
              <a:r>
                <a:rPr lang="en-US" sz="1200">
                  <a:solidFill>
                    <a:srgbClr val="000000"/>
                  </a:solidFill>
                  <a:effectLst/>
                  <a:latin typeface="Times New Roman" panose="02020603050405020304" pitchFamily="18" charset="0"/>
                  <a:ea typeface="Times New Roman" panose="02020603050405020304" pitchFamily="18" charset="0"/>
                </a:rPr>
                <a:t>Booking / payment </a:t>
              </a:r>
              <a:endParaRPr lang="en-IN" sz="1100">
                <a:effectLst/>
                <a:latin typeface="Times New Roman" panose="02020603050405020304" pitchFamily="18" charset="0"/>
                <a:ea typeface="Times New Roman" panose="02020603050405020304" pitchFamily="18" charset="0"/>
              </a:endParaRPr>
            </a:p>
            <a:p>
              <a:pPr>
                <a:buNone/>
              </a:pPr>
              <a:r>
                <a:rPr lang="en-US" sz="1200">
                  <a:effectLst/>
                  <a:latin typeface="Times New Roman" panose="02020603050405020304" pitchFamily="18" charset="0"/>
                  <a:ea typeface="Times New Roman" panose="02020603050405020304" pitchFamily="18" charset="0"/>
                </a:rPr>
                <a:t> </a:t>
              </a:r>
              <a:endParaRPr lang="en-IN" sz="1100">
                <a:effectLst/>
                <a:latin typeface="Times New Roman" panose="02020603050405020304" pitchFamily="18" charset="0"/>
                <a:ea typeface="Times New Roman" panose="02020603050405020304" pitchFamily="18" charset="0"/>
              </a:endParaRPr>
            </a:p>
          </p:txBody>
        </p:sp>
        <p:sp>
          <p:nvSpPr>
            <p:cNvPr id="21" name="Rectangle 20">
              <a:extLst>
                <a:ext uri="{FF2B5EF4-FFF2-40B4-BE49-F238E27FC236}">
                  <a16:creationId xmlns:a16="http://schemas.microsoft.com/office/drawing/2014/main" id="{9F6EA52D-0DE2-7D0B-AE0C-C821F8E73637}"/>
                </a:ext>
              </a:extLst>
            </p:cNvPr>
            <p:cNvSpPr>
              <a:spLocks noChangeArrowheads="1"/>
            </p:cNvSpPr>
            <p:nvPr/>
          </p:nvSpPr>
          <p:spPr bwMode="auto">
            <a:xfrm>
              <a:off x="4336415" y="5230934"/>
              <a:ext cx="1373505" cy="40322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57150" algn="ctr">
                <a:lnSpc>
                  <a:spcPct val="150000"/>
                </a:lnSpc>
                <a:buNone/>
              </a:pPr>
              <a:r>
                <a:rPr lang="en-US" sz="1200">
                  <a:solidFill>
                    <a:srgbClr val="000000"/>
                  </a:solidFill>
                  <a:effectLst/>
                  <a:latin typeface="Times New Roman" panose="02020603050405020304" pitchFamily="18" charset="0"/>
                  <a:ea typeface="Times New Roman" panose="02020603050405020304" pitchFamily="18" charset="0"/>
                </a:rPr>
                <a:t>Order tracking </a:t>
              </a:r>
              <a:endParaRPr lang="en-IN" sz="1100">
                <a:effectLst/>
                <a:latin typeface="Times New Roman" panose="02020603050405020304" pitchFamily="18" charset="0"/>
                <a:ea typeface="Times New Roman" panose="02020603050405020304" pitchFamily="18" charset="0"/>
              </a:endParaRPr>
            </a:p>
            <a:p>
              <a:pPr>
                <a:buNone/>
              </a:pPr>
              <a:r>
                <a:rPr lang="en-US" sz="1200">
                  <a:effectLst/>
                  <a:latin typeface="Times New Roman" panose="02020603050405020304" pitchFamily="18" charset="0"/>
                  <a:ea typeface="Times New Roman" panose="02020603050405020304" pitchFamily="18" charset="0"/>
                </a:rPr>
                <a:t> </a:t>
              </a:r>
              <a:endParaRPr lang="en-IN" sz="1100">
                <a:effectLst/>
                <a:latin typeface="Times New Roman" panose="02020603050405020304" pitchFamily="18" charset="0"/>
                <a:ea typeface="Times New Roman" panose="02020603050405020304" pitchFamily="18" charset="0"/>
              </a:endParaRPr>
            </a:p>
          </p:txBody>
        </p:sp>
        <p:sp>
          <p:nvSpPr>
            <p:cNvPr id="22" name="Rectangle 21">
              <a:extLst>
                <a:ext uri="{FF2B5EF4-FFF2-40B4-BE49-F238E27FC236}">
                  <a16:creationId xmlns:a16="http://schemas.microsoft.com/office/drawing/2014/main" id="{2EAE5B44-B1AA-1393-DEDB-5C5D0C2A6293}"/>
                </a:ext>
              </a:extLst>
            </p:cNvPr>
            <p:cNvSpPr>
              <a:spLocks noChangeArrowheads="1"/>
            </p:cNvSpPr>
            <p:nvPr/>
          </p:nvSpPr>
          <p:spPr bwMode="auto">
            <a:xfrm>
              <a:off x="315595" y="3785674"/>
              <a:ext cx="1351280" cy="36195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800"/>
                </a:spcAft>
                <a:buNone/>
              </a:pPr>
              <a:r>
                <a:rPr lang="en-US" sz="1200">
                  <a:effectLst/>
                  <a:latin typeface="Times New Roman" panose="02020603050405020304" pitchFamily="18" charset="0"/>
                  <a:ea typeface="Times New Roman" panose="02020603050405020304" pitchFamily="18" charset="0"/>
                </a:rPr>
                <a:t>View Complaint </a:t>
              </a:r>
              <a:endParaRPr lang="en-IN" sz="1100">
                <a:effectLst/>
                <a:latin typeface="Times New Roman" panose="02020603050405020304" pitchFamily="18" charset="0"/>
                <a:ea typeface="Times New Roman" panose="02020603050405020304" pitchFamily="18" charset="0"/>
              </a:endParaRPr>
            </a:p>
            <a:p>
              <a:pPr>
                <a:buNone/>
              </a:pPr>
              <a:r>
                <a:rPr lang="en-US" sz="1200">
                  <a:effectLst/>
                  <a:latin typeface="Times New Roman" panose="02020603050405020304" pitchFamily="18" charset="0"/>
                  <a:ea typeface="Times New Roman" panose="02020603050405020304" pitchFamily="18" charset="0"/>
                </a:rPr>
                <a:t> </a:t>
              </a:r>
              <a:endParaRPr lang="en-IN" sz="1100">
                <a:effectLst/>
                <a:latin typeface="Times New Roman" panose="02020603050405020304" pitchFamily="18" charset="0"/>
                <a:ea typeface="Times New Roman" panose="02020603050405020304" pitchFamily="18" charset="0"/>
              </a:endParaRPr>
            </a:p>
          </p:txBody>
        </p:sp>
        <p:sp>
          <p:nvSpPr>
            <p:cNvPr id="23" name="Rectangle 22">
              <a:extLst>
                <a:ext uri="{FF2B5EF4-FFF2-40B4-BE49-F238E27FC236}">
                  <a16:creationId xmlns:a16="http://schemas.microsoft.com/office/drawing/2014/main" id="{E8BB02D2-3AB5-2E16-E44D-7219DA2BC1F2}"/>
                </a:ext>
              </a:extLst>
            </p:cNvPr>
            <p:cNvSpPr>
              <a:spLocks noChangeArrowheads="1"/>
            </p:cNvSpPr>
            <p:nvPr/>
          </p:nvSpPr>
          <p:spPr bwMode="auto">
            <a:xfrm>
              <a:off x="315595" y="4293039"/>
              <a:ext cx="1351280" cy="31432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800"/>
                </a:spcAft>
                <a:buNone/>
              </a:pPr>
              <a:r>
                <a:rPr lang="en-US" sz="1200">
                  <a:effectLst/>
                  <a:latin typeface="Times New Roman" panose="02020603050405020304" pitchFamily="18" charset="0"/>
                  <a:ea typeface="Times New Roman" panose="02020603050405020304" pitchFamily="18" charset="0"/>
                </a:rPr>
                <a:t>Post Solution </a:t>
              </a:r>
              <a:endParaRPr lang="en-IN" sz="1100">
                <a:effectLst/>
                <a:latin typeface="Times New Roman" panose="02020603050405020304" pitchFamily="18" charset="0"/>
                <a:ea typeface="Times New Roman" panose="02020603050405020304" pitchFamily="18" charset="0"/>
              </a:endParaRPr>
            </a:p>
            <a:p>
              <a:pPr>
                <a:buNone/>
              </a:pPr>
              <a:r>
                <a:rPr lang="en-US" sz="1200">
                  <a:effectLst/>
                  <a:latin typeface="Times New Roman" panose="02020603050405020304" pitchFamily="18" charset="0"/>
                  <a:ea typeface="Times New Roman" panose="02020603050405020304" pitchFamily="18" charset="0"/>
                </a:rPr>
                <a:t> </a:t>
              </a:r>
              <a:endParaRPr lang="en-IN" sz="1100">
                <a:effectLst/>
                <a:latin typeface="Times New Roman" panose="02020603050405020304" pitchFamily="18" charset="0"/>
                <a:ea typeface="Times New Roman" panose="02020603050405020304" pitchFamily="18" charset="0"/>
              </a:endParaRPr>
            </a:p>
          </p:txBody>
        </p:sp>
        <p:sp>
          <p:nvSpPr>
            <p:cNvPr id="24" name="Rectangle 23">
              <a:extLst>
                <a:ext uri="{FF2B5EF4-FFF2-40B4-BE49-F238E27FC236}">
                  <a16:creationId xmlns:a16="http://schemas.microsoft.com/office/drawing/2014/main" id="{3696CFB9-9EED-72FE-184A-D62999664EB8}"/>
                </a:ext>
              </a:extLst>
            </p:cNvPr>
            <p:cNvSpPr>
              <a:spLocks noChangeArrowheads="1"/>
            </p:cNvSpPr>
            <p:nvPr/>
          </p:nvSpPr>
          <p:spPr bwMode="auto">
            <a:xfrm>
              <a:off x="2445385" y="846259"/>
              <a:ext cx="1066800" cy="329565"/>
            </a:xfrm>
            <a:prstGeom prst="rect">
              <a:avLst/>
            </a:prstGeom>
            <a:gradFill rotWithShape="0">
              <a:gsLst>
                <a:gs pos="0">
                  <a:schemeClr val="accent5">
                    <a:lumMod val="60000"/>
                    <a:lumOff val="40000"/>
                  </a:schemeClr>
                </a:gs>
                <a:gs pos="50000">
                  <a:schemeClr val="accent5">
                    <a:lumMod val="20000"/>
                    <a:lumOff val="80000"/>
                  </a:schemeClr>
                </a:gs>
                <a:gs pos="100000">
                  <a:schemeClr val="accent5">
                    <a:lumMod val="60000"/>
                    <a:lumOff val="40000"/>
                  </a:schemeClr>
                </a:gs>
              </a:gsLst>
              <a:lin ang="18900000" scaled="1"/>
            </a:gradFill>
            <a:ln w="12700">
              <a:solidFill>
                <a:schemeClr val="accent5">
                  <a:lumMod val="60000"/>
                  <a:lumOff val="40000"/>
                </a:schemeClr>
              </a:solidFill>
              <a:miter lim="800000"/>
              <a:headEnd/>
              <a:tailEnd/>
            </a:ln>
            <a:effectLst>
              <a:outerShdw dist="28398" dir="3806097" algn="ctr" rotWithShape="0">
                <a:schemeClr val="accent5">
                  <a:lumMod val="50000"/>
                  <a:lumOff val="0"/>
                  <a:alpha val="50000"/>
                </a:schemeClr>
              </a:outerShdw>
            </a:effectLst>
          </p:spPr>
          <p:txBody>
            <a:bodyPr rot="0" vert="horz" wrap="square" lIns="91440" tIns="45720" rIns="91440" bIns="45720" anchor="t" anchorCtr="0" upright="1">
              <a:noAutofit/>
            </a:bodyPr>
            <a:lstStyle/>
            <a:p>
              <a:pPr algn="ctr">
                <a:lnSpc>
                  <a:spcPct val="150000"/>
                </a:lnSpc>
                <a:buNone/>
              </a:pPr>
              <a:r>
                <a:rPr lang="en-US" sz="1200" b="1">
                  <a:solidFill>
                    <a:srgbClr val="000000"/>
                  </a:solidFill>
                  <a:effectLst/>
                  <a:latin typeface="Times New Roman" panose="02020603050405020304" pitchFamily="18" charset="0"/>
                  <a:ea typeface="Times New Roman" panose="02020603050405020304" pitchFamily="18" charset="0"/>
                </a:rPr>
                <a:t>Farmer </a:t>
              </a:r>
              <a:endParaRPr lang="en-IN" sz="1100">
                <a:effectLst/>
                <a:latin typeface="Times New Roman" panose="02020603050405020304" pitchFamily="18" charset="0"/>
                <a:ea typeface="Times New Roman" panose="02020603050405020304" pitchFamily="18" charset="0"/>
              </a:endParaRPr>
            </a:p>
            <a:p>
              <a:pPr>
                <a:buNone/>
              </a:pPr>
              <a:r>
                <a:rPr lang="en-US" sz="1200">
                  <a:effectLst/>
                  <a:latin typeface="Times New Roman" panose="02020603050405020304" pitchFamily="18" charset="0"/>
                  <a:ea typeface="Times New Roman" panose="02020603050405020304" pitchFamily="18" charset="0"/>
                </a:rPr>
                <a:t> </a:t>
              </a:r>
              <a:endParaRPr lang="en-IN" sz="1100">
                <a:effectLst/>
                <a:latin typeface="Times New Roman" panose="02020603050405020304" pitchFamily="18" charset="0"/>
                <a:ea typeface="Times New Roman" panose="02020603050405020304" pitchFamily="18" charset="0"/>
              </a:endParaRPr>
            </a:p>
          </p:txBody>
        </p:sp>
        <p:sp>
          <p:nvSpPr>
            <p:cNvPr id="25" name="AutoShape 25">
              <a:extLst>
                <a:ext uri="{FF2B5EF4-FFF2-40B4-BE49-F238E27FC236}">
                  <a16:creationId xmlns:a16="http://schemas.microsoft.com/office/drawing/2014/main" id="{780C6336-CE3B-7EEC-8A0E-A3510C590BAA}"/>
                </a:ext>
              </a:extLst>
            </p:cNvPr>
            <p:cNvSpPr>
              <a:spLocks noChangeArrowheads="1"/>
            </p:cNvSpPr>
            <p:nvPr/>
          </p:nvSpPr>
          <p:spPr bwMode="auto">
            <a:xfrm>
              <a:off x="2121535" y="1529519"/>
              <a:ext cx="1714500" cy="4493895"/>
            </a:xfrm>
            <a:prstGeom prst="roundRect">
              <a:avLst>
                <a:gd name="adj" fmla="val 16667"/>
              </a:avLst>
            </a:prstGeom>
            <a:gradFill rotWithShape="0">
              <a:gsLst>
                <a:gs pos="0">
                  <a:schemeClr val="lt1">
                    <a:lumMod val="100000"/>
                    <a:lumOff val="0"/>
                  </a:schemeClr>
                </a:gs>
                <a:gs pos="100000">
                  <a:schemeClr val="accent5">
                    <a:lumMod val="40000"/>
                    <a:lumOff val="60000"/>
                  </a:schemeClr>
                </a:gs>
              </a:gsLst>
              <a:lin ang="5400000" scaled="1"/>
            </a:gradFill>
            <a:ln w="12700">
              <a:solidFill>
                <a:schemeClr val="accent5">
                  <a:lumMod val="60000"/>
                  <a:lumOff val="40000"/>
                </a:schemeClr>
              </a:solidFill>
              <a:round/>
              <a:headEnd/>
              <a:tailEnd/>
            </a:ln>
            <a:effectLst>
              <a:outerShdw dist="28398" dir="3806097" algn="ctr" rotWithShape="0">
                <a:schemeClr val="accent5">
                  <a:lumMod val="50000"/>
                  <a:lumOff val="0"/>
                  <a:alpha val="50000"/>
                </a:schemeClr>
              </a:outerShdw>
            </a:effectLst>
          </p:spPr>
          <p:txBody>
            <a:bodyPr rot="0" vert="horz" wrap="square" lIns="91440" tIns="45720" rIns="91440" bIns="45720" anchor="t" anchorCtr="0" upright="1">
              <a:noAutofit/>
            </a:bodyPr>
            <a:lstStyle/>
            <a:p>
              <a:endParaRPr lang="en-IN"/>
            </a:p>
          </p:txBody>
        </p:sp>
        <p:sp>
          <p:nvSpPr>
            <p:cNvPr id="26" name="Rectangle 25">
              <a:extLst>
                <a:ext uri="{FF2B5EF4-FFF2-40B4-BE49-F238E27FC236}">
                  <a16:creationId xmlns:a16="http://schemas.microsoft.com/office/drawing/2014/main" id="{7CC57887-BE6B-FE7F-E4CE-B4D3273E6AE2}"/>
                </a:ext>
              </a:extLst>
            </p:cNvPr>
            <p:cNvSpPr>
              <a:spLocks noChangeArrowheads="1"/>
            </p:cNvSpPr>
            <p:nvPr/>
          </p:nvSpPr>
          <p:spPr bwMode="auto">
            <a:xfrm>
              <a:off x="2312035" y="1761294"/>
              <a:ext cx="1323975" cy="34925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57150" algn="ctr">
                <a:lnSpc>
                  <a:spcPct val="150000"/>
                </a:lnSpc>
                <a:buNone/>
              </a:pPr>
              <a:r>
                <a:rPr lang="en-US" sz="1200">
                  <a:solidFill>
                    <a:srgbClr val="000000"/>
                  </a:solidFill>
                  <a:effectLst/>
                  <a:latin typeface="Times New Roman" panose="02020603050405020304" pitchFamily="18" charset="0"/>
                  <a:ea typeface="Times New Roman" panose="02020603050405020304" pitchFamily="18" charset="0"/>
                </a:rPr>
                <a:t>Register </a:t>
              </a:r>
              <a:endParaRPr lang="en-IN" sz="1100">
                <a:effectLst/>
                <a:latin typeface="Times New Roman" panose="02020603050405020304" pitchFamily="18" charset="0"/>
                <a:ea typeface="Times New Roman" panose="02020603050405020304" pitchFamily="18" charset="0"/>
              </a:endParaRPr>
            </a:p>
            <a:p>
              <a:pPr>
                <a:buNone/>
              </a:pPr>
              <a:r>
                <a:rPr lang="en-US" sz="1200">
                  <a:effectLst/>
                  <a:latin typeface="Times New Roman" panose="02020603050405020304" pitchFamily="18" charset="0"/>
                  <a:ea typeface="Times New Roman" panose="02020603050405020304" pitchFamily="18" charset="0"/>
                </a:rPr>
                <a:t> </a:t>
              </a:r>
              <a:endParaRPr lang="en-IN" sz="1100">
                <a:effectLst/>
                <a:latin typeface="Times New Roman" panose="02020603050405020304" pitchFamily="18" charset="0"/>
                <a:ea typeface="Times New Roman" panose="02020603050405020304" pitchFamily="18" charset="0"/>
              </a:endParaRPr>
            </a:p>
          </p:txBody>
        </p:sp>
        <p:sp>
          <p:nvSpPr>
            <p:cNvPr id="27" name="Rectangle 26">
              <a:extLst>
                <a:ext uri="{FF2B5EF4-FFF2-40B4-BE49-F238E27FC236}">
                  <a16:creationId xmlns:a16="http://schemas.microsoft.com/office/drawing/2014/main" id="{F70F4746-7F86-F86C-B392-E3510A3FF945}"/>
                </a:ext>
              </a:extLst>
            </p:cNvPr>
            <p:cNvSpPr>
              <a:spLocks noChangeArrowheads="1"/>
            </p:cNvSpPr>
            <p:nvPr/>
          </p:nvSpPr>
          <p:spPr bwMode="auto">
            <a:xfrm>
              <a:off x="2312035" y="2826189"/>
              <a:ext cx="1323975" cy="34925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57150" algn="ctr">
                <a:lnSpc>
                  <a:spcPct val="150000"/>
                </a:lnSpc>
                <a:buNone/>
              </a:pPr>
              <a:r>
                <a:rPr lang="en-US" sz="1200">
                  <a:solidFill>
                    <a:srgbClr val="000000"/>
                  </a:solidFill>
                  <a:effectLst/>
                  <a:latin typeface="Times New Roman" panose="02020603050405020304" pitchFamily="18" charset="0"/>
                  <a:ea typeface="Times New Roman" panose="02020603050405020304" pitchFamily="18" charset="0"/>
                </a:rPr>
                <a:t>Add product </a:t>
              </a:r>
              <a:endParaRPr lang="en-IN" sz="1100">
                <a:effectLst/>
                <a:latin typeface="Times New Roman" panose="02020603050405020304" pitchFamily="18" charset="0"/>
                <a:ea typeface="Times New Roman" panose="02020603050405020304" pitchFamily="18" charset="0"/>
              </a:endParaRPr>
            </a:p>
            <a:p>
              <a:pPr>
                <a:buNone/>
              </a:pPr>
              <a:r>
                <a:rPr lang="en-US" sz="1200">
                  <a:effectLst/>
                  <a:latin typeface="Times New Roman" panose="02020603050405020304" pitchFamily="18" charset="0"/>
                  <a:ea typeface="Times New Roman" panose="02020603050405020304" pitchFamily="18" charset="0"/>
                </a:rPr>
                <a:t> </a:t>
              </a:r>
              <a:endParaRPr lang="en-IN" sz="1100">
                <a:effectLst/>
                <a:latin typeface="Times New Roman" panose="02020603050405020304" pitchFamily="18" charset="0"/>
                <a:ea typeface="Times New Roman" panose="02020603050405020304" pitchFamily="18" charset="0"/>
              </a:endParaRPr>
            </a:p>
          </p:txBody>
        </p:sp>
        <p:sp>
          <p:nvSpPr>
            <p:cNvPr id="28" name="Rectangle 27">
              <a:extLst>
                <a:ext uri="{FF2B5EF4-FFF2-40B4-BE49-F238E27FC236}">
                  <a16:creationId xmlns:a16="http://schemas.microsoft.com/office/drawing/2014/main" id="{B2E0D12B-40F2-AA26-1448-BB87BE83E479}"/>
                </a:ext>
              </a:extLst>
            </p:cNvPr>
            <p:cNvSpPr>
              <a:spLocks noChangeArrowheads="1"/>
            </p:cNvSpPr>
            <p:nvPr/>
          </p:nvSpPr>
          <p:spPr bwMode="auto">
            <a:xfrm>
              <a:off x="4336415" y="2804599"/>
              <a:ext cx="1323975" cy="5816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57150" algn="ctr">
                <a:lnSpc>
                  <a:spcPct val="150000"/>
                </a:lnSpc>
                <a:buNone/>
              </a:pPr>
              <a:r>
                <a:rPr lang="en-US" sz="1200" dirty="0">
                  <a:solidFill>
                    <a:srgbClr val="000000"/>
                  </a:solidFill>
                  <a:effectLst/>
                  <a:latin typeface="Times New Roman" panose="02020603050405020304" pitchFamily="18" charset="0"/>
                  <a:ea typeface="Times New Roman" panose="02020603050405020304" pitchFamily="18" charset="0"/>
                </a:rPr>
                <a:t>View product details </a:t>
              </a:r>
              <a:endParaRPr lang="en-IN" sz="1100" dirty="0">
                <a:effectLst/>
                <a:latin typeface="Times New Roman" panose="02020603050405020304" pitchFamily="18" charset="0"/>
                <a:ea typeface="Times New Roman" panose="02020603050405020304" pitchFamily="18" charset="0"/>
              </a:endParaRPr>
            </a:p>
            <a:p>
              <a:pPr>
                <a:buNone/>
              </a:pPr>
              <a:r>
                <a:rPr lang="en-US" sz="1200" dirty="0">
                  <a:effectLst/>
                  <a:latin typeface="Times New Roman" panose="02020603050405020304" pitchFamily="18" charset="0"/>
                  <a:ea typeface="Times New Roman" panose="02020603050405020304" pitchFamily="18" charset="0"/>
                </a:rPr>
                <a:t> </a:t>
              </a:r>
              <a:endParaRPr lang="en-IN" sz="1100" dirty="0">
                <a:effectLst/>
                <a:latin typeface="Times New Roman" panose="02020603050405020304" pitchFamily="18" charset="0"/>
                <a:ea typeface="Times New Roman" panose="02020603050405020304" pitchFamily="18" charset="0"/>
              </a:endParaRPr>
            </a:p>
          </p:txBody>
        </p:sp>
        <p:sp>
          <p:nvSpPr>
            <p:cNvPr id="29" name="Rectangle 28">
              <a:extLst>
                <a:ext uri="{FF2B5EF4-FFF2-40B4-BE49-F238E27FC236}">
                  <a16:creationId xmlns:a16="http://schemas.microsoft.com/office/drawing/2014/main" id="{E3CA098B-D30D-C9BE-BBFD-3EECA4966180}"/>
                </a:ext>
              </a:extLst>
            </p:cNvPr>
            <p:cNvSpPr>
              <a:spLocks noChangeArrowheads="1"/>
            </p:cNvSpPr>
            <p:nvPr/>
          </p:nvSpPr>
          <p:spPr bwMode="auto">
            <a:xfrm>
              <a:off x="2312035" y="3329109"/>
              <a:ext cx="1323975" cy="39306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57150" algn="ctr">
                <a:lnSpc>
                  <a:spcPct val="150000"/>
                </a:lnSpc>
                <a:buNone/>
              </a:pPr>
              <a:r>
                <a:rPr lang="en-US" sz="1200">
                  <a:solidFill>
                    <a:srgbClr val="000000"/>
                  </a:solidFill>
                  <a:effectLst/>
                  <a:latin typeface="Times New Roman" panose="02020603050405020304" pitchFamily="18" charset="0"/>
                  <a:ea typeface="Times New Roman" panose="02020603050405020304" pitchFamily="18" charset="0"/>
                </a:rPr>
                <a:t>Demand request </a:t>
              </a:r>
              <a:endParaRPr lang="en-IN" sz="1100">
                <a:effectLst/>
                <a:latin typeface="Times New Roman" panose="02020603050405020304" pitchFamily="18" charset="0"/>
                <a:ea typeface="Times New Roman" panose="02020603050405020304" pitchFamily="18" charset="0"/>
              </a:endParaRPr>
            </a:p>
            <a:p>
              <a:pPr>
                <a:buNone/>
              </a:pPr>
              <a:r>
                <a:rPr lang="en-US" sz="1200">
                  <a:effectLst/>
                  <a:latin typeface="Times New Roman" panose="02020603050405020304" pitchFamily="18" charset="0"/>
                  <a:ea typeface="Times New Roman" panose="02020603050405020304" pitchFamily="18" charset="0"/>
                </a:rPr>
                <a:t> </a:t>
              </a:r>
              <a:endParaRPr lang="en-IN" sz="1100">
                <a:effectLst/>
                <a:latin typeface="Times New Roman" panose="02020603050405020304" pitchFamily="18" charset="0"/>
                <a:ea typeface="Times New Roman" panose="02020603050405020304" pitchFamily="18" charset="0"/>
              </a:endParaRPr>
            </a:p>
          </p:txBody>
        </p:sp>
        <p:cxnSp>
          <p:nvCxnSpPr>
            <p:cNvPr id="30" name="AutoShape 30">
              <a:extLst>
                <a:ext uri="{FF2B5EF4-FFF2-40B4-BE49-F238E27FC236}">
                  <a16:creationId xmlns:a16="http://schemas.microsoft.com/office/drawing/2014/main" id="{BB3D03BE-ED17-66F2-4E6A-DF25D86E3413}"/>
                </a:ext>
              </a:extLst>
            </p:cNvPr>
            <p:cNvCxnSpPr>
              <a:cxnSpLocks noChangeShapeType="1"/>
              <a:stCxn id="24" idx="2"/>
              <a:endCxn id="25" idx="0"/>
            </p:cNvCxnSpPr>
            <p:nvPr/>
          </p:nvCxnSpPr>
          <p:spPr bwMode="auto">
            <a:xfrm>
              <a:off x="2978785" y="1175824"/>
              <a:ext cx="0" cy="35369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1" name="AutoShape 31">
              <a:extLst>
                <a:ext uri="{FF2B5EF4-FFF2-40B4-BE49-F238E27FC236}">
                  <a16:creationId xmlns:a16="http://schemas.microsoft.com/office/drawing/2014/main" id="{F2936B73-341F-735E-66CE-CAAEDA93F41D}"/>
                </a:ext>
              </a:extLst>
            </p:cNvPr>
            <p:cNvCxnSpPr>
              <a:cxnSpLocks noChangeShapeType="1"/>
            </p:cNvCxnSpPr>
            <p:nvPr/>
          </p:nvCxnSpPr>
          <p:spPr bwMode="auto">
            <a:xfrm>
              <a:off x="2965450" y="540824"/>
              <a:ext cx="0" cy="305435"/>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32" name="AutoShape 32">
              <a:extLst>
                <a:ext uri="{FF2B5EF4-FFF2-40B4-BE49-F238E27FC236}">
                  <a16:creationId xmlns:a16="http://schemas.microsoft.com/office/drawing/2014/main" id="{BB7DF36E-A2FA-BFEA-7A86-4C40CF408CAE}"/>
                </a:ext>
              </a:extLst>
            </p:cNvPr>
            <p:cNvSpPr>
              <a:spLocks noChangeArrowheads="1"/>
            </p:cNvSpPr>
            <p:nvPr/>
          </p:nvSpPr>
          <p:spPr bwMode="auto">
            <a:xfrm>
              <a:off x="2312035" y="6359964"/>
              <a:ext cx="1323975" cy="771525"/>
            </a:xfrm>
            <a:prstGeom prst="flowChartMagneticDisk">
              <a:avLst/>
            </a:prstGeom>
            <a:gradFill rotWithShape="0">
              <a:gsLst>
                <a:gs pos="0">
                  <a:schemeClr val="accent6">
                    <a:lumMod val="60000"/>
                    <a:lumOff val="40000"/>
                  </a:schemeClr>
                </a:gs>
                <a:gs pos="50000">
                  <a:schemeClr val="accent6">
                    <a:lumMod val="20000"/>
                    <a:lumOff val="80000"/>
                  </a:schemeClr>
                </a:gs>
                <a:gs pos="100000">
                  <a:schemeClr val="accent6">
                    <a:lumMod val="60000"/>
                    <a:lumOff val="40000"/>
                  </a:schemeClr>
                </a:gs>
              </a:gsLst>
              <a:lin ang="18900000" scaled="1"/>
            </a:gradFill>
            <a:ln w="12700">
              <a:solidFill>
                <a:schemeClr val="accent6">
                  <a:lumMod val="60000"/>
                  <a:lumOff val="40000"/>
                </a:schemeClr>
              </a:solidFill>
              <a:round/>
              <a:headEnd/>
              <a:tailEnd/>
            </a:ln>
            <a:effectLst>
              <a:outerShdw dist="28398" dir="3806097" algn="ctr" rotWithShape="0">
                <a:schemeClr val="accent6">
                  <a:lumMod val="50000"/>
                  <a:lumOff val="0"/>
                  <a:alpha val="50000"/>
                </a:schemeClr>
              </a:outerShdw>
            </a:effectLst>
          </p:spPr>
          <p:txBody>
            <a:bodyPr rot="0" vert="horz" wrap="square" lIns="91440" tIns="45720" rIns="91440" bIns="45720" anchor="t" anchorCtr="0" upright="1">
              <a:noAutofit/>
            </a:bodyPr>
            <a:lstStyle/>
            <a:p>
              <a:pPr algn="ctr">
                <a:buNone/>
              </a:pPr>
              <a:r>
                <a:rPr lang="en-US" sz="1200" b="1">
                  <a:effectLst/>
                  <a:latin typeface="Times New Roman" panose="02020603050405020304" pitchFamily="18" charset="0"/>
                  <a:ea typeface="Times New Roman" panose="02020603050405020304" pitchFamily="18" charset="0"/>
                </a:rPr>
                <a:t>Data Base</a:t>
              </a:r>
              <a:endParaRPr lang="en-IN" sz="1100">
                <a:effectLst/>
                <a:latin typeface="Times New Roman" panose="02020603050405020304" pitchFamily="18" charset="0"/>
                <a:ea typeface="Times New Roman" panose="02020603050405020304" pitchFamily="18" charset="0"/>
              </a:endParaRPr>
            </a:p>
          </p:txBody>
        </p:sp>
        <p:cxnSp>
          <p:nvCxnSpPr>
            <p:cNvPr id="33" name="AutoShape 33">
              <a:extLst>
                <a:ext uri="{FF2B5EF4-FFF2-40B4-BE49-F238E27FC236}">
                  <a16:creationId xmlns:a16="http://schemas.microsoft.com/office/drawing/2014/main" id="{0A7E122A-F469-1446-2265-075DA69788B2}"/>
                </a:ext>
              </a:extLst>
            </p:cNvPr>
            <p:cNvCxnSpPr>
              <a:cxnSpLocks noChangeShapeType="1"/>
              <a:stCxn id="7" idx="2"/>
              <a:endCxn id="32" idx="2"/>
            </p:cNvCxnSpPr>
            <p:nvPr/>
          </p:nvCxnSpPr>
          <p:spPr bwMode="auto">
            <a:xfrm rot="16200000" flipH="1">
              <a:off x="700405" y="5135049"/>
              <a:ext cx="1857375" cy="1365250"/>
            </a:xfrm>
            <a:prstGeom prst="bentConnector2">
              <a:avLst/>
            </a:prstGeom>
            <a:noFill/>
            <a:ln w="9525">
              <a:solidFill>
                <a:srgbClr val="000000"/>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34" name="AutoShape 34">
              <a:extLst>
                <a:ext uri="{FF2B5EF4-FFF2-40B4-BE49-F238E27FC236}">
                  <a16:creationId xmlns:a16="http://schemas.microsoft.com/office/drawing/2014/main" id="{588C5BBD-0147-C46A-402F-6F2B5BF5B7AB}"/>
                </a:ext>
              </a:extLst>
            </p:cNvPr>
            <p:cNvCxnSpPr>
              <a:cxnSpLocks noChangeShapeType="1"/>
              <a:stCxn id="8" idx="2"/>
              <a:endCxn id="32" idx="4"/>
            </p:cNvCxnSpPr>
            <p:nvPr/>
          </p:nvCxnSpPr>
          <p:spPr bwMode="auto">
            <a:xfrm rot="5400000">
              <a:off x="4251325" y="5975789"/>
              <a:ext cx="154940" cy="1384935"/>
            </a:xfrm>
            <a:prstGeom prst="bentConnector2">
              <a:avLst/>
            </a:prstGeom>
            <a:noFill/>
            <a:ln w="9525">
              <a:solidFill>
                <a:srgbClr val="000000"/>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35" name="AutoShape 35">
              <a:extLst>
                <a:ext uri="{FF2B5EF4-FFF2-40B4-BE49-F238E27FC236}">
                  <a16:creationId xmlns:a16="http://schemas.microsoft.com/office/drawing/2014/main" id="{EA90940E-7D36-FB66-185A-3C7C0885E7FC}"/>
                </a:ext>
              </a:extLst>
            </p:cNvPr>
            <p:cNvCxnSpPr>
              <a:cxnSpLocks noChangeShapeType="1"/>
              <a:stCxn id="25" idx="2"/>
              <a:endCxn id="32" idx="1"/>
            </p:cNvCxnSpPr>
            <p:nvPr/>
          </p:nvCxnSpPr>
          <p:spPr bwMode="auto">
            <a:xfrm flipH="1">
              <a:off x="2974340" y="6023414"/>
              <a:ext cx="4445" cy="336550"/>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36" name="Rectangle 35">
              <a:extLst>
                <a:ext uri="{FF2B5EF4-FFF2-40B4-BE49-F238E27FC236}">
                  <a16:creationId xmlns:a16="http://schemas.microsoft.com/office/drawing/2014/main" id="{134E4AAB-EB24-917C-B681-0560DBCEF7FB}"/>
                </a:ext>
              </a:extLst>
            </p:cNvPr>
            <p:cNvSpPr>
              <a:spLocks noChangeArrowheads="1"/>
            </p:cNvSpPr>
            <p:nvPr/>
          </p:nvSpPr>
          <p:spPr bwMode="auto">
            <a:xfrm>
              <a:off x="2312035" y="2310569"/>
              <a:ext cx="1323975" cy="36385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buNone/>
              </a:pPr>
              <a:r>
                <a:rPr lang="en-US" sz="1200">
                  <a:effectLst/>
                  <a:latin typeface="Times New Roman" panose="02020603050405020304" pitchFamily="18" charset="0"/>
                  <a:ea typeface="Times New Roman" panose="02020603050405020304" pitchFamily="18" charset="0"/>
                </a:rPr>
                <a:t>Login </a:t>
              </a:r>
              <a:endParaRPr lang="en-IN" sz="1100">
                <a:effectLst/>
                <a:latin typeface="Times New Roman" panose="02020603050405020304" pitchFamily="18" charset="0"/>
                <a:ea typeface="Times New Roman" panose="02020603050405020304" pitchFamily="18" charset="0"/>
              </a:endParaRPr>
            </a:p>
          </p:txBody>
        </p:sp>
        <p:sp>
          <p:nvSpPr>
            <p:cNvPr id="37" name="Rectangle 36">
              <a:extLst>
                <a:ext uri="{FF2B5EF4-FFF2-40B4-BE49-F238E27FC236}">
                  <a16:creationId xmlns:a16="http://schemas.microsoft.com/office/drawing/2014/main" id="{D3C7FF9B-F507-0AEA-6C73-98DB3EDDD188}"/>
                </a:ext>
              </a:extLst>
            </p:cNvPr>
            <p:cNvSpPr>
              <a:spLocks noChangeArrowheads="1"/>
            </p:cNvSpPr>
            <p:nvPr/>
          </p:nvSpPr>
          <p:spPr bwMode="auto">
            <a:xfrm>
              <a:off x="4336415" y="4029514"/>
              <a:ext cx="1373505" cy="45275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lnSpc>
                  <a:spcPct val="106000"/>
                </a:lnSpc>
                <a:spcAft>
                  <a:spcPts val="800"/>
                </a:spcAft>
                <a:buNone/>
              </a:pPr>
              <a:r>
                <a:rPr lang="en-US" sz="1200">
                  <a:solidFill>
                    <a:srgbClr val="000000"/>
                  </a:solidFill>
                  <a:effectLst/>
                  <a:latin typeface="Times New Roman" panose="02020603050405020304" pitchFamily="18" charset="0"/>
                  <a:ea typeface="Calibri" panose="020F0502020204030204" pitchFamily="34" charset="0"/>
                </a:rPr>
                <a:t>View status</a:t>
              </a:r>
              <a:endParaRPr lang="en-IN" sz="1200">
                <a:effectLst/>
                <a:latin typeface="Times New Roman" panose="02020603050405020304" pitchFamily="18" charset="0"/>
                <a:ea typeface="Times New Roman" panose="02020603050405020304" pitchFamily="18" charset="0"/>
              </a:endParaRPr>
            </a:p>
            <a:p>
              <a:pPr algn="ctr">
                <a:buNone/>
              </a:pPr>
              <a:r>
                <a:rPr lang="en-US" sz="1200">
                  <a:effectLst/>
                  <a:latin typeface="Times New Roman" panose="02020603050405020304" pitchFamily="18" charset="0"/>
                  <a:ea typeface="Times New Roman" panose="02020603050405020304" pitchFamily="18" charset="0"/>
                </a:rPr>
                <a:t> </a:t>
              </a:r>
              <a:endParaRPr lang="en-IN" sz="1100">
                <a:effectLst/>
                <a:latin typeface="Times New Roman" panose="02020603050405020304" pitchFamily="18" charset="0"/>
                <a:ea typeface="Times New Roman" panose="02020603050405020304" pitchFamily="18" charset="0"/>
              </a:endParaRPr>
            </a:p>
          </p:txBody>
        </p:sp>
        <p:cxnSp>
          <p:nvCxnSpPr>
            <p:cNvPr id="38" name="Connector: Elbow 37">
              <a:extLst>
                <a:ext uri="{FF2B5EF4-FFF2-40B4-BE49-F238E27FC236}">
                  <a16:creationId xmlns:a16="http://schemas.microsoft.com/office/drawing/2014/main" id="{DEC6BA36-4E5A-EFCC-28DF-0AC61795DC3E}"/>
                </a:ext>
              </a:extLst>
            </p:cNvPr>
            <p:cNvCxnSpPr>
              <a:cxnSpLocks noChangeShapeType="1"/>
              <a:stCxn id="6" idx="1"/>
            </p:cNvCxnSpPr>
            <p:nvPr/>
          </p:nvCxnSpPr>
          <p:spPr bwMode="auto">
            <a:xfrm rot="10800000" flipV="1">
              <a:off x="994410" y="274759"/>
              <a:ext cx="150495" cy="547370"/>
            </a:xfrm>
            <a:prstGeom prst="bentConnector2">
              <a:avLst/>
            </a:prstGeom>
            <a:noFill/>
            <a:ln w="9525">
              <a:solidFill>
                <a:schemeClr val="dk1">
                  <a:lumMod val="95000"/>
                  <a:lumOff val="0"/>
                </a:schemeClr>
              </a:solidFill>
              <a:miter lim="800000"/>
              <a:headEnd/>
              <a:tailEnd type="triangle" w="med" len="med"/>
            </a:ln>
            <a:extLst>
              <a:ext uri="{909E8E84-426E-40DD-AFC4-6F175D3DCCD1}">
                <a14:hiddenFill xmlns:a14="http://schemas.microsoft.com/office/drawing/2010/main">
                  <a:noFill/>
                </a14:hiddenFill>
              </a:ext>
            </a:extLst>
          </p:spPr>
        </p:cxnSp>
        <p:cxnSp>
          <p:nvCxnSpPr>
            <p:cNvPr id="39" name="Connector: Elbow 38">
              <a:extLst>
                <a:ext uri="{FF2B5EF4-FFF2-40B4-BE49-F238E27FC236}">
                  <a16:creationId xmlns:a16="http://schemas.microsoft.com/office/drawing/2014/main" id="{89AD6F2E-052A-B5D7-3E83-40AC5111ABA0}"/>
                </a:ext>
              </a:extLst>
            </p:cNvPr>
            <p:cNvCxnSpPr>
              <a:cxnSpLocks noChangeShapeType="1"/>
              <a:stCxn id="6" idx="3"/>
            </p:cNvCxnSpPr>
            <p:nvPr/>
          </p:nvCxnSpPr>
          <p:spPr bwMode="auto">
            <a:xfrm>
              <a:off x="5022850" y="274759"/>
              <a:ext cx="173990" cy="571500"/>
            </a:xfrm>
            <a:prstGeom prst="bentConnector2">
              <a:avLst/>
            </a:prstGeom>
            <a:noFill/>
            <a:ln w="9525">
              <a:solidFill>
                <a:schemeClr val="dk1">
                  <a:lumMod val="95000"/>
                  <a:lumOff val="0"/>
                </a:schemeClr>
              </a:solidFill>
              <a:miter lim="800000"/>
              <a:headEnd/>
              <a:tailEnd type="triangle" w="med" len="med"/>
            </a:ln>
            <a:extLst>
              <a:ext uri="{909E8E84-426E-40DD-AFC4-6F175D3DCCD1}">
                <a14:hiddenFill xmlns:a14="http://schemas.microsoft.com/office/drawing/2010/main">
                  <a:noFill/>
                </a14:hiddenFill>
              </a:ext>
            </a:extLst>
          </p:spPr>
        </p:cxnSp>
        <p:sp>
          <p:nvSpPr>
            <p:cNvPr id="40" name="Rectangle 39">
              <a:extLst>
                <a:ext uri="{FF2B5EF4-FFF2-40B4-BE49-F238E27FC236}">
                  <a16:creationId xmlns:a16="http://schemas.microsoft.com/office/drawing/2014/main" id="{FE3C738B-3F90-06BD-6373-47BDB350F7AD}"/>
                </a:ext>
              </a:extLst>
            </p:cNvPr>
            <p:cNvSpPr>
              <a:spLocks noChangeArrowheads="1"/>
            </p:cNvSpPr>
            <p:nvPr/>
          </p:nvSpPr>
          <p:spPr bwMode="auto">
            <a:xfrm>
              <a:off x="2312035" y="3884734"/>
              <a:ext cx="1323975" cy="39243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lnSpc>
                  <a:spcPct val="106000"/>
                </a:lnSpc>
                <a:spcAft>
                  <a:spcPts val="800"/>
                </a:spcAft>
                <a:buNone/>
              </a:pPr>
              <a:r>
                <a:rPr lang="en-US" sz="1200">
                  <a:solidFill>
                    <a:srgbClr val="000000"/>
                  </a:solidFill>
                  <a:effectLst/>
                  <a:latin typeface="Times New Roman" panose="02020603050405020304" pitchFamily="18" charset="0"/>
                  <a:ea typeface="Calibri" panose="020F0502020204030204" pitchFamily="34" charset="0"/>
                </a:rPr>
                <a:t>Accept/ reject </a:t>
              </a:r>
              <a:endParaRPr lang="en-IN" sz="1200">
                <a:effectLst/>
                <a:latin typeface="Times New Roman" panose="02020603050405020304" pitchFamily="18" charset="0"/>
                <a:ea typeface="Times New Roman" panose="02020603050405020304" pitchFamily="18" charset="0"/>
              </a:endParaRPr>
            </a:p>
          </p:txBody>
        </p:sp>
        <p:sp>
          <p:nvSpPr>
            <p:cNvPr id="41" name="Rectangle 40">
              <a:extLst>
                <a:ext uri="{FF2B5EF4-FFF2-40B4-BE49-F238E27FC236}">
                  <a16:creationId xmlns:a16="http://schemas.microsoft.com/office/drawing/2014/main" id="{08F9D6D2-4236-049E-EE39-04A80D53F081}"/>
                </a:ext>
              </a:extLst>
            </p:cNvPr>
            <p:cNvSpPr>
              <a:spLocks noChangeArrowheads="1"/>
            </p:cNvSpPr>
            <p:nvPr/>
          </p:nvSpPr>
          <p:spPr bwMode="auto">
            <a:xfrm>
              <a:off x="2312035" y="4429564"/>
              <a:ext cx="1323975" cy="39306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marL="57150" algn="ctr">
                <a:lnSpc>
                  <a:spcPct val="150000"/>
                </a:lnSpc>
                <a:buNone/>
              </a:pPr>
              <a:r>
                <a:rPr lang="en-US" sz="1200">
                  <a:solidFill>
                    <a:srgbClr val="000000"/>
                  </a:solidFill>
                  <a:effectLst/>
                  <a:latin typeface="Times New Roman" panose="02020603050405020304" pitchFamily="18" charset="0"/>
                  <a:ea typeface="Times New Roman" panose="02020603050405020304" pitchFamily="18" charset="0"/>
                </a:rPr>
                <a:t>Status </a:t>
              </a:r>
              <a:endParaRPr lang="en-IN" sz="1100">
                <a:effectLst/>
                <a:latin typeface="Times New Roman" panose="02020603050405020304" pitchFamily="18" charset="0"/>
                <a:ea typeface="Times New Roman" panose="02020603050405020304" pitchFamily="18" charset="0"/>
              </a:endParaRPr>
            </a:p>
            <a:p>
              <a:pPr>
                <a:buNone/>
              </a:pPr>
              <a:r>
                <a:rPr lang="en-US" sz="1200">
                  <a:effectLst/>
                  <a:latin typeface="Times New Roman" panose="02020603050405020304" pitchFamily="18" charset="0"/>
                  <a:ea typeface="Times New Roman" panose="02020603050405020304" pitchFamily="18" charset="0"/>
                </a:rPr>
                <a:t> </a:t>
              </a:r>
              <a:endParaRPr lang="en-IN" sz="1100">
                <a:effectLst/>
                <a:latin typeface="Times New Roman" panose="02020603050405020304" pitchFamily="18" charset="0"/>
                <a:ea typeface="Times New Roman" panose="02020603050405020304" pitchFamily="18" charset="0"/>
              </a:endParaRPr>
            </a:p>
          </p:txBody>
        </p:sp>
        <p:sp>
          <p:nvSpPr>
            <p:cNvPr id="42" name="Rectangle 41">
              <a:extLst>
                <a:ext uri="{FF2B5EF4-FFF2-40B4-BE49-F238E27FC236}">
                  <a16:creationId xmlns:a16="http://schemas.microsoft.com/office/drawing/2014/main" id="{EFFEB7D6-D657-670C-9D79-6782B0EC5EC1}"/>
                </a:ext>
              </a:extLst>
            </p:cNvPr>
            <p:cNvSpPr>
              <a:spLocks noChangeArrowheads="1"/>
            </p:cNvSpPr>
            <p:nvPr/>
          </p:nvSpPr>
          <p:spPr bwMode="auto">
            <a:xfrm>
              <a:off x="2312035" y="4985189"/>
              <a:ext cx="1323975" cy="64897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lnSpc>
                  <a:spcPct val="106000"/>
                </a:lnSpc>
                <a:spcAft>
                  <a:spcPts val="800"/>
                </a:spcAft>
                <a:buNone/>
              </a:pPr>
              <a:r>
                <a:rPr lang="en-US" sz="1200">
                  <a:solidFill>
                    <a:srgbClr val="000000"/>
                  </a:solidFill>
                  <a:effectLst/>
                  <a:latin typeface="Times New Roman" panose="02020603050405020304" pitchFamily="18" charset="0"/>
                  <a:ea typeface="Calibri" panose="020F0502020204030204" pitchFamily="34" charset="0"/>
                </a:rPr>
                <a:t>Complaint &amp; solution</a:t>
              </a:r>
              <a:endParaRPr lang="en-IN" sz="1200">
                <a:effectLst/>
                <a:latin typeface="Times New Roman" panose="02020603050405020304" pitchFamily="18" charset="0"/>
                <a:ea typeface="Times New Roman" panose="02020603050405020304" pitchFamily="18" charset="0"/>
              </a:endParaRPr>
            </a:p>
          </p:txBody>
        </p:sp>
        <p:sp>
          <p:nvSpPr>
            <p:cNvPr id="43" name="Rectangle 42">
              <a:extLst>
                <a:ext uri="{FF2B5EF4-FFF2-40B4-BE49-F238E27FC236}">
                  <a16:creationId xmlns:a16="http://schemas.microsoft.com/office/drawing/2014/main" id="{C178776E-4724-568F-145F-47A49D36785E}"/>
                </a:ext>
              </a:extLst>
            </p:cNvPr>
            <p:cNvSpPr>
              <a:spLocks noChangeArrowheads="1"/>
            </p:cNvSpPr>
            <p:nvPr/>
          </p:nvSpPr>
          <p:spPr bwMode="auto">
            <a:xfrm>
              <a:off x="4336415" y="5786559"/>
              <a:ext cx="1373505" cy="57340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lnSpc>
                  <a:spcPct val="106000"/>
                </a:lnSpc>
                <a:spcAft>
                  <a:spcPts val="800"/>
                </a:spcAft>
                <a:buNone/>
              </a:pPr>
              <a:r>
                <a:rPr lang="en-US" sz="1200">
                  <a:solidFill>
                    <a:srgbClr val="000000"/>
                  </a:solidFill>
                  <a:effectLst/>
                  <a:latin typeface="Times New Roman" panose="02020603050405020304" pitchFamily="18" charset="0"/>
                  <a:ea typeface="Calibri" panose="020F0502020204030204" pitchFamily="34" charset="0"/>
                </a:rPr>
                <a:t>Complaint &amp; solution</a:t>
              </a:r>
              <a:endParaRPr lang="en-IN" sz="1200">
                <a:effectLst/>
                <a:latin typeface="Times New Roman" panose="02020603050405020304" pitchFamily="18" charset="0"/>
                <a:ea typeface="Times New Roman" panose="02020603050405020304" pitchFamily="18" charset="0"/>
              </a:endParaRPr>
            </a:p>
            <a:p>
              <a:pPr>
                <a:buNone/>
              </a:pPr>
              <a:r>
                <a:rPr lang="en-US" sz="1200">
                  <a:effectLst/>
                  <a:latin typeface="Times New Roman" panose="02020603050405020304" pitchFamily="18" charset="0"/>
                  <a:ea typeface="Times New Roman" panose="02020603050405020304" pitchFamily="18" charset="0"/>
                </a:rPr>
                <a:t> </a:t>
              </a:r>
              <a:endParaRPr lang="en-IN" sz="1100">
                <a:effectLst/>
                <a:latin typeface="Times New Roman" panose="02020603050405020304" pitchFamily="18" charset="0"/>
                <a:ea typeface="Times New Roman" panose="02020603050405020304" pitchFamily="18" charset="0"/>
              </a:endParaRPr>
            </a:p>
          </p:txBody>
        </p:sp>
      </p:grpSp>
    </p:spTree>
    <p:extLst>
      <p:ext uri="{BB962C8B-B14F-4D97-AF65-F5344CB8AC3E}">
        <p14:creationId xmlns:p14="http://schemas.microsoft.com/office/powerpoint/2010/main" val="4120978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17597" y="1355834"/>
            <a:ext cx="10954293" cy="4714432"/>
          </a:xfrm>
          <a:prstGeom prst="rect">
            <a:avLst/>
          </a:prstGeom>
          <a:noFill/>
        </p:spPr>
        <p:txBody>
          <a:bodyPr wrap="square">
            <a:spAutoFit/>
          </a:bodyPr>
          <a:lstStyle/>
          <a:p>
            <a:pPr marL="342900" indent="-342900" algn="just">
              <a:lnSpc>
                <a:spcPct val="150000"/>
              </a:lnSpc>
              <a:spcAft>
                <a:spcPts val="1000"/>
              </a:spcAft>
              <a:buFont typeface="Arial" panose="020B0604020202020204" pitchFamily="34" charset="0"/>
              <a:buChar char="•"/>
            </a:pPr>
            <a:r>
              <a:rPr lang="en-US" sz="2400" dirty="0">
                <a:latin typeface="Times New Roman"/>
                <a:cs typeface="Times New Roman"/>
              </a:rPr>
              <a:t>In the existing agricultural system, farmers face many difficulties in selling their products directly to the market. Most farmers depend on middlemen or wholesalers, which reduces their profit margins. </a:t>
            </a:r>
          </a:p>
          <a:p>
            <a:pPr marL="342900" indent="-342900" algn="just">
              <a:lnSpc>
                <a:spcPct val="150000"/>
              </a:lnSpc>
              <a:spcAft>
                <a:spcPts val="1000"/>
              </a:spcAft>
              <a:buFont typeface="Arial" panose="020B0604020202020204" pitchFamily="34" charset="0"/>
              <a:buChar char="•"/>
            </a:pPr>
            <a:r>
              <a:rPr lang="en-US" sz="2400" dirty="0">
                <a:latin typeface="Times New Roman"/>
                <a:cs typeface="Times New Roman"/>
              </a:rPr>
              <a:t>As a result, farmers struggle with unfair pricing, limited market access, and lack of transparency in product tracking.</a:t>
            </a:r>
          </a:p>
          <a:p>
            <a:pPr marL="342900" indent="-342900" algn="just">
              <a:lnSpc>
                <a:spcPct val="150000"/>
              </a:lnSpc>
              <a:spcAft>
                <a:spcPts val="1000"/>
              </a:spcAft>
              <a:buFont typeface="Arial" panose="020B0604020202020204" pitchFamily="34" charset="0"/>
              <a:buChar char="•"/>
            </a:pPr>
            <a:r>
              <a:rPr lang="en-US" sz="2400" dirty="0">
                <a:latin typeface="Times New Roman"/>
                <a:cs typeface="Times New Roman"/>
              </a:rPr>
              <a:t>Although some online platforms exist, they mainly focus on crop information or selling through third-party apps. These systems do not provide features like booking, order management, or real-time tracking between farms and shops. </a:t>
            </a:r>
          </a:p>
        </p:txBody>
      </p:sp>
      <p:sp>
        <p:nvSpPr>
          <p:cNvPr id="7" name="TextBox 6"/>
          <p:cNvSpPr txBox="1"/>
          <p:nvPr/>
        </p:nvSpPr>
        <p:spPr>
          <a:xfrm>
            <a:off x="685981" y="361206"/>
            <a:ext cx="10817524"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EXISTING SYSTEM</a:t>
            </a:r>
            <a:endParaRPr lang="en-IN"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18853" y="1093075"/>
            <a:ext cx="10954293" cy="5268430"/>
          </a:xfrm>
          <a:prstGeom prst="rect">
            <a:avLst/>
          </a:prstGeom>
          <a:noFill/>
        </p:spPr>
        <p:txBody>
          <a:bodyPr wrap="square">
            <a:spAutoFit/>
          </a:bodyPr>
          <a:lstStyle/>
          <a:p>
            <a:pPr marL="342900" indent="-342900" algn="just">
              <a:lnSpc>
                <a:spcPct val="150000"/>
              </a:lnSpc>
              <a:spcAft>
                <a:spcPts val="1000"/>
              </a:spcAft>
              <a:buFont typeface="Arial" panose="020B0604020202020204" pitchFamily="34" charset="0"/>
              <a:buChar char="•"/>
            </a:pPr>
            <a:r>
              <a:rPr lang="en-US" sz="2400" dirty="0">
                <a:latin typeface="Times New Roman"/>
                <a:cs typeface="Times New Roman"/>
              </a:rPr>
              <a:t>In this system, farmers can list their products with price, quantity, and availability details. A special feature allows farmers to hold or confirm orders based on stock availability and delivery readiness, which helps them manage demand efficiently.</a:t>
            </a:r>
          </a:p>
          <a:p>
            <a:pPr marL="342900" indent="-342900" algn="just">
              <a:lnSpc>
                <a:spcPct val="150000"/>
              </a:lnSpc>
              <a:spcAft>
                <a:spcPts val="1000"/>
              </a:spcAft>
              <a:buFont typeface="Arial" panose="020B0604020202020204" pitchFamily="34" charset="0"/>
              <a:buChar char="•"/>
            </a:pPr>
            <a:r>
              <a:rPr lang="en-US" sz="2400" dirty="0">
                <a:latin typeface="Times New Roman"/>
                <a:cs typeface="Times New Roman"/>
              </a:rPr>
              <a:t>The system also uses location-based services to find the nearest farmers and shops, reducing transportation time and cost. Most importantly, it helps to avoid brokerage or middlemen, ensuring farmers receive the right value for their produce while shop owners get fresh goods at reasonable prices.</a:t>
            </a:r>
          </a:p>
          <a:p>
            <a:pPr marL="342900" indent="-342900" algn="just">
              <a:lnSpc>
                <a:spcPct val="150000"/>
              </a:lnSpc>
              <a:spcAft>
                <a:spcPts val="1000"/>
              </a:spcAft>
              <a:buFont typeface="Arial" panose="020B0604020202020204" pitchFamily="34" charset="0"/>
              <a:buChar char="•"/>
            </a:pPr>
            <a:r>
              <a:rPr lang="en-US" sz="2400" dirty="0">
                <a:latin typeface="Times New Roman"/>
                <a:cs typeface="Times New Roman"/>
              </a:rPr>
              <a:t>Features such as order management, booking notifications, and tracking updates make the process smooth and transparent</a:t>
            </a:r>
            <a:r>
              <a:rPr lang="en-US" dirty="0"/>
              <a:t>.</a:t>
            </a:r>
            <a:endParaRPr lang="en-US" dirty="0">
              <a:latin typeface="Times New Roman" pitchFamily="18" charset="0"/>
              <a:cs typeface="Times New Roman" pitchFamily="18" charset="0"/>
            </a:endParaRPr>
          </a:p>
        </p:txBody>
      </p:sp>
      <p:sp>
        <p:nvSpPr>
          <p:cNvPr id="7" name="TextBox 6"/>
          <p:cNvSpPr txBox="1"/>
          <p:nvPr/>
        </p:nvSpPr>
        <p:spPr>
          <a:xfrm>
            <a:off x="750499" y="344095"/>
            <a:ext cx="10805625"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PROPOSED SYSTEM</a:t>
            </a:r>
            <a:endParaRPr lang="en-IN" sz="3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AB9E8-1057-20B7-D5E0-3FA07735DBB8}"/>
              </a:ext>
            </a:extLst>
          </p:cNvPr>
          <p:cNvSpPr>
            <a:spLocks noGrp="1"/>
          </p:cNvSpPr>
          <p:nvPr>
            <p:ph type="ctrTitle"/>
          </p:nvPr>
        </p:nvSpPr>
        <p:spPr>
          <a:xfrm>
            <a:off x="1609725" y="171450"/>
            <a:ext cx="9144000" cy="657225"/>
          </a:xfrm>
        </p:spPr>
        <p:txBody>
          <a:bodyPr>
            <a:normAutofit/>
          </a:bodyPr>
          <a:lstStyle/>
          <a:p>
            <a:r>
              <a:rPr lang="en-IN" sz="3400" b="1" dirty="0">
                <a:latin typeface="Times New Roman" panose="02020603050405020304" pitchFamily="18" charset="0"/>
                <a:cs typeface="Times New Roman" panose="02020603050405020304" pitchFamily="18" charset="0"/>
              </a:rPr>
              <a:t>LIST OF MODULES</a:t>
            </a:r>
            <a:endParaRPr lang="en-IN" sz="3400" dirty="0"/>
          </a:p>
        </p:txBody>
      </p:sp>
      <p:sp>
        <p:nvSpPr>
          <p:cNvPr id="3" name="Subtitle 2">
            <a:extLst>
              <a:ext uri="{FF2B5EF4-FFF2-40B4-BE49-F238E27FC236}">
                <a16:creationId xmlns:a16="http://schemas.microsoft.com/office/drawing/2014/main" id="{17A2E36F-03E8-D089-7CBC-F7A15AC7696D}"/>
              </a:ext>
            </a:extLst>
          </p:cNvPr>
          <p:cNvSpPr>
            <a:spLocks noGrp="1"/>
          </p:cNvSpPr>
          <p:nvPr>
            <p:ph type="subTitle" idx="1"/>
          </p:nvPr>
        </p:nvSpPr>
        <p:spPr>
          <a:xfrm>
            <a:off x="981074" y="752475"/>
            <a:ext cx="10401301" cy="5543550"/>
          </a:xfrm>
        </p:spPr>
        <p:txBody>
          <a:bodyPr>
            <a:normAutofit/>
          </a:bodyPr>
          <a:lstStyle/>
          <a:p>
            <a:pPr algn="l"/>
            <a:r>
              <a:rPr lang="en-IN" sz="3000" b="1" dirty="0">
                <a:latin typeface="Times New Roman" panose="02020603050405020304" pitchFamily="18" charset="0"/>
                <a:cs typeface="Times New Roman" panose="02020603050405020304" pitchFamily="18" charset="0"/>
              </a:rPr>
              <a:t>Farmer Panel:</a:t>
            </a:r>
          </a:p>
          <a:p>
            <a:pPr marL="342900" indent="-342900"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Register / Login: </a:t>
            </a:r>
            <a:r>
              <a:rPr lang="en-US" dirty="0">
                <a:latin typeface="Times New Roman"/>
                <a:cs typeface="Times New Roman"/>
              </a:rPr>
              <a:t>Farmers can create an account and log in securely to access the system</a:t>
            </a:r>
          </a:p>
          <a:p>
            <a:pPr marL="342900" indent="-342900"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Add Product : </a:t>
            </a:r>
            <a:r>
              <a:rPr lang="en-US" dirty="0">
                <a:latin typeface="Times New Roman"/>
                <a:cs typeface="Times New Roman"/>
              </a:rPr>
              <a:t>Farmers can add product details such as name, quantity, price, and availability</a:t>
            </a:r>
            <a:r>
              <a:rPr lang="en-US" dirty="0"/>
              <a:t>.</a:t>
            </a:r>
          </a:p>
          <a:p>
            <a:pPr marL="342900" indent="-342900"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View Demand Request : </a:t>
            </a:r>
            <a:r>
              <a:rPr lang="en-US" dirty="0">
                <a:latin typeface="Times New Roman"/>
                <a:cs typeface="Times New Roman"/>
              </a:rPr>
              <a:t>Farmers can view demand requests sent by shopkeepers for their products.</a:t>
            </a:r>
          </a:p>
          <a:p>
            <a:pPr algn="l"/>
            <a:r>
              <a:rPr lang="en-US" sz="3000" b="1" dirty="0">
                <a:latin typeface="Times New Roman" panose="02020603050405020304" pitchFamily="18" charset="0"/>
                <a:cs typeface="Times New Roman" panose="02020603050405020304" pitchFamily="18" charset="0"/>
              </a:rPr>
              <a:t>Shop Panel:</a:t>
            </a:r>
          </a:p>
          <a:p>
            <a:pPr marL="342900" indent="-342900"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Demand Request :</a:t>
            </a:r>
            <a:r>
              <a:rPr lang="en-US" sz="3200" b="1" dirty="0">
                <a:latin typeface="Times New Roman" panose="02020603050405020304" pitchFamily="18" charset="0"/>
                <a:cs typeface="Times New Roman" panose="02020603050405020304" pitchFamily="18" charset="0"/>
              </a:rPr>
              <a:t> </a:t>
            </a:r>
            <a:r>
              <a:rPr lang="en-US" dirty="0">
                <a:latin typeface="Times New Roman"/>
                <a:cs typeface="Times New Roman"/>
              </a:rPr>
              <a:t>Shopkeepers can send demand requests to farmers for required products.</a:t>
            </a:r>
          </a:p>
          <a:p>
            <a:pPr marL="342900" indent="-342900"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View Product Details :</a:t>
            </a:r>
            <a:r>
              <a:rPr lang="en-US" dirty="0">
                <a:latin typeface="Times New Roman"/>
                <a:cs typeface="Times New Roman"/>
              </a:rPr>
              <a:t>Shopkeepers can view available farm products with price and quantity details.</a:t>
            </a:r>
          </a:p>
          <a:p>
            <a:pPr algn="l"/>
            <a:endParaRPr lang="en-IN"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3103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7157E-AC13-50B9-7ABB-B19EAD159E9A}"/>
              </a:ext>
            </a:extLst>
          </p:cNvPr>
          <p:cNvSpPr>
            <a:spLocks noGrp="1"/>
          </p:cNvSpPr>
          <p:nvPr>
            <p:ph type="title"/>
          </p:nvPr>
        </p:nvSpPr>
        <p:spPr>
          <a:xfrm>
            <a:off x="838200" y="1149291"/>
            <a:ext cx="10515600" cy="453005"/>
          </a:xfrm>
        </p:spPr>
        <p:txBody>
          <a:bodyPr>
            <a:normAutofit fontScale="90000"/>
          </a:bodyPr>
          <a:lstStyle/>
          <a:p>
            <a:pPr algn="ctr"/>
            <a:r>
              <a:rPr lang="en-IN" sz="3600" b="1" dirty="0">
                <a:latin typeface="Times New Roman" panose="02020603050405020304" pitchFamily="18" charset="0"/>
                <a:cs typeface="Times New Roman" panose="02020603050405020304" pitchFamily="18" charset="0"/>
              </a:rPr>
              <a:t>OUTPUT SCREENSHOTS</a:t>
            </a:r>
            <a:br>
              <a:rPr lang="en-IN" sz="3600" b="1" dirty="0">
                <a:latin typeface="Times New Roman" panose="02020603050405020304" pitchFamily="18" charset="0"/>
                <a:ea typeface="+mn-ea"/>
                <a:cs typeface="Times New Roman" panose="02020603050405020304" pitchFamily="18" charset="0"/>
              </a:rPr>
            </a:br>
            <a:br>
              <a:rPr lang="en-IN" sz="3600" b="1" dirty="0">
                <a:latin typeface="Times New Roman" panose="02020603050405020304" pitchFamily="18" charset="0"/>
                <a:ea typeface="+mn-ea"/>
                <a:cs typeface="Times New Roman" panose="02020603050405020304" pitchFamily="18" charset="0"/>
              </a:rPr>
            </a:br>
            <a:br>
              <a:rPr lang="en-IN" sz="3100" b="1" dirty="0">
                <a:latin typeface="Times New Roman"/>
                <a:ea typeface="+mn-ea"/>
                <a:cs typeface="Times New Roman"/>
              </a:rPr>
            </a:br>
            <a:br>
              <a:rPr lang="en-IN" sz="3600" b="1" dirty="0">
                <a:latin typeface="Times New Roman" panose="02020603050405020304" pitchFamily="18" charset="0"/>
                <a:ea typeface="+mn-ea"/>
                <a:cs typeface="Times New Roman" panose="02020603050405020304" pitchFamily="18" charset="0"/>
              </a:rPr>
            </a:br>
            <a:endParaRPr lang="en-IN" sz="3600" b="1" dirty="0">
              <a:latin typeface="Times New Roman" panose="02020603050405020304" pitchFamily="18" charset="0"/>
              <a:ea typeface="+mn-ea"/>
              <a:cs typeface="Times New Roman" panose="02020603050405020304" pitchFamily="18" charset="0"/>
            </a:endParaRPr>
          </a:p>
        </p:txBody>
      </p:sp>
      <p:pic>
        <p:nvPicPr>
          <p:cNvPr id="5" name="Picture 4">
            <a:extLst>
              <a:ext uri="{FF2B5EF4-FFF2-40B4-BE49-F238E27FC236}">
                <a16:creationId xmlns:a16="http://schemas.microsoft.com/office/drawing/2014/main" id="{D634D113-37E5-3431-0CD3-3F24642334FC}"/>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2257426" y="1149291"/>
            <a:ext cx="2782254" cy="5013384"/>
          </a:xfrm>
          <a:prstGeom prst="rect">
            <a:avLst/>
          </a:prstGeom>
        </p:spPr>
      </p:pic>
      <p:pic>
        <p:nvPicPr>
          <p:cNvPr id="8" name="Picture 7">
            <a:extLst>
              <a:ext uri="{FF2B5EF4-FFF2-40B4-BE49-F238E27FC236}">
                <a16:creationId xmlns:a16="http://schemas.microsoft.com/office/drawing/2014/main" id="{8FEA8E2A-6298-861B-BB66-DFFDDA3815F3}"/>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858000" y="1149291"/>
            <a:ext cx="2609850" cy="4937184"/>
          </a:xfrm>
          <a:prstGeom prst="rect">
            <a:avLst/>
          </a:prstGeom>
        </p:spPr>
      </p:pic>
    </p:spTree>
    <p:extLst>
      <p:ext uri="{BB962C8B-B14F-4D97-AF65-F5344CB8AC3E}">
        <p14:creationId xmlns:p14="http://schemas.microsoft.com/office/powerpoint/2010/main" val="868958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78129-3411-0D0E-A81F-EBC830B30384}"/>
              </a:ext>
            </a:extLst>
          </p:cNvPr>
          <p:cNvSpPr>
            <a:spLocks noGrp="1"/>
          </p:cNvSpPr>
          <p:nvPr>
            <p:ph type="ctrTitle"/>
          </p:nvPr>
        </p:nvSpPr>
        <p:spPr>
          <a:xfrm>
            <a:off x="1524000" y="244835"/>
            <a:ext cx="9144000" cy="603849"/>
          </a:xfrm>
        </p:spPr>
        <p:txBody>
          <a:bodyPr>
            <a:normAutofit/>
          </a:bodyPr>
          <a:lstStyle/>
          <a:p>
            <a:r>
              <a:rPr lang="en-IN" sz="3200" b="1" dirty="0">
                <a:latin typeface="Times New Roman" panose="02020603050405020304" pitchFamily="18" charset="0"/>
                <a:cs typeface="Times New Roman" panose="02020603050405020304" pitchFamily="18" charset="0"/>
              </a:rPr>
              <a:t>OUTPUT SCREENSHOTS</a:t>
            </a:r>
            <a:endParaRPr lang="en-IN" sz="3200" b="1" dirty="0">
              <a:latin typeface="Times New Roman" panose="02020603050405020304" pitchFamily="18" charset="0"/>
              <a:ea typeface="+mn-ea"/>
              <a:cs typeface="Times New Roman" panose="02020603050405020304" pitchFamily="18" charset="0"/>
            </a:endParaRPr>
          </a:p>
        </p:txBody>
      </p:sp>
      <p:sp>
        <p:nvSpPr>
          <p:cNvPr id="3" name="Subtitle 2">
            <a:extLst>
              <a:ext uri="{FF2B5EF4-FFF2-40B4-BE49-F238E27FC236}">
                <a16:creationId xmlns:a16="http://schemas.microsoft.com/office/drawing/2014/main" id="{C46F7887-0615-B995-9958-315B47FD1E6D}"/>
              </a:ext>
            </a:extLst>
          </p:cNvPr>
          <p:cNvSpPr>
            <a:spLocks noGrp="1"/>
          </p:cNvSpPr>
          <p:nvPr>
            <p:ph type="subTitle" idx="1"/>
          </p:nvPr>
        </p:nvSpPr>
        <p:spPr>
          <a:xfrm>
            <a:off x="243281" y="1319604"/>
            <a:ext cx="11518084" cy="4930194"/>
          </a:xfrm>
        </p:spPr>
        <p:txBody>
          <a:bodyPr/>
          <a:lstStyle/>
          <a:p>
            <a:pPr algn="l"/>
            <a:r>
              <a:rPr lang="en-US" sz="2800" b="1" dirty="0">
                <a:latin typeface="Times New Roman"/>
                <a:cs typeface="Times New Roman"/>
              </a:rPr>
              <a:t>					</a:t>
            </a:r>
            <a:endParaRPr lang="en-IN" b="1" dirty="0">
              <a:latin typeface="Times New Roman"/>
              <a:cs typeface="Times New Roman"/>
            </a:endParaRPr>
          </a:p>
        </p:txBody>
      </p:sp>
      <p:pic>
        <p:nvPicPr>
          <p:cNvPr id="4" name="Picture 3">
            <a:extLst>
              <a:ext uri="{FF2B5EF4-FFF2-40B4-BE49-F238E27FC236}">
                <a16:creationId xmlns:a16="http://schemas.microsoft.com/office/drawing/2014/main" id="{1EFE66EB-5245-A10E-665B-8362C7EA50DD}"/>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2933701" y="1319604"/>
            <a:ext cx="2562224" cy="4566846"/>
          </a:xfrm>
          <a:prstGeom prst="rect">
            <a:avLst/>
          </a:prstGeom>
        </p:spPr>
      </p:pic>
      <p:pic>
        <p:nvPicPr>
          <p:cNvPr id="9" name="Picture 8">
            <a:extLst>
              <a:ext uri="{FF2B5EF4-FFF2-40B4-BE49-F238E27FC236}">
                <a16:creationId xmlns:a16="http://schemas.microsoft.com/office/drawing/2014/main" id="{7D0836B6-07BD-43C0-7A9F-67AF93C474E3}"/>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886574" y="1319604"/>
            <a:ext cx="2447925" cy="4566846"/>
          </a:xfrm>
          <a:prstGeom prst="rect">
            <a:avLst/>
          </a:prstGeom>
        </p:spPr>
      </p:pic>
    </p:spTree>
    <p:extLst>
      <p:ext uri="{BB962C8B-B14F-4D97-AF65-F5344CB8AC3E}">
        <p14:creationId xmlns:p14="http://schemas.microsoft.com/office/powerpoint/2010/main" val="3596654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3B863-1232-F0DD-8824-D8FA1F516F1E}"/>
              </a:ext>
            </a:extLst>
          </p:cNvPr>
          <p:cNvSpPr>
            <a:spLocks noGrp="1"/>
          </p:cNvSpPr>
          <p:nvPr>
            <p:ph type="ctrTitle"/>
          </p:nvPr>
        </p:nvSpPr>
        <p:spPr>
          <a:xfrm>
            <a:off x="1524000" y="333375"/>
            <a:ext cx="9144000" cy="685800"/>
          </a:xfrm>
        </p:spPr>
        <p:txBody>
          <a:bodyPr>
            <a:normAutofit/>
          </a:bodyPr>
          <a:lstStyle/>
          <a:p>
            <a:r>
              <a:rPr lang="en-IN" sz="3200" b="1" dirty="0">
                <a:latin typeface="Times New Roman" panose="02020603050405020304" pitchFamily="18" charset="0"/>
                <a:cs typeface="Times New Roman" panose="02020603050405020304" pitchFamily="18" charset="0"/>
              </a:rPr>
              <a:t>FUTURE ENHANCEMENT</a:t>
            </a:r>
          </a:p>
        </p:txBody>
      </p:sp>
      <p:sp>
        <p:nvSpPr>
          <p:cNvPr id="3" name="Subtitle 2">
            <a:extLst>
              <a:ext uri="{FF2B5EF4-FFF2-40B4-BE49-F238E27FC236}">
                <a16:creationId xmlns:a16="http://schemas.microsoft.com/office/drawing/2014/main" id="{86CC82EF-B10F-7C38-4F53-056E199B7451}"/>
              </a:ext>
            </a:extLst>
          </p:cNvPr>
          <p:cNvSpPr>
            <a:spLocks noGrp="1"/>
          </p:cNvSpPr>
          <p:nvPr>
            <p:ph type="subTitle" idx="1"/>
          </p:nvPr>
        </p:nvSpPr>
        <p:spPr>
          <a:xfrm>
            <a:off x="1104899" y="1352550"/>
            <a:ext cx="9906001" cy="4781550"/>
          </a:xfrm>
        </p:spPr>
        <p:txBody>
          <a:bodyPr/>
          <a:lstStyle/>
          <a:p>
            <a:pPr algn="just">
              <a:lnSpc>
                <a:spcPct val="150000"/>
              </a:lnSpc>
            </a:pPr>
            <a:r>
              <a:rPr lang="en-US" b="1" dirty="0">
                <a:latin typeface="Times New Roman" panose="02020603050405020304" pitchFamily="18" charset="0"/>
                <a:cs typeface="Times New Roman" panose="02020603050405020304" pitchFamily="18" charset="0"/>
              </a:rPr>
              <a:t>Regional Language Support</a:t>
            </a:r>
            <a:r>
              <a:rPr lang="en-US" sz="2000" b="1" dirty="0"/>
              <a:t>:</a:t>
            </a:r>
            <a:r>
              <a:rPr lang="en-US" sz="2000" dirty="0"/>
              <a:t> </a:t>
            </a:r>
            <a:r>
              <a:rPr lang="en-US" dirty="0">
                <a:latin typeface="Times New Roman" panose="02020603050405020304" pitchFamily="18" charset="0"/>
                <a:cs typeface="Times New Roman" panose="02020603050405020304" pitchFamily="18" charset="0"/>
              </a:rPr>
              <a:t>Adding support for regional and local languages to help farmers and shopkeepers use the system easily and comfortably.</a:t>
            </a:r>
          </a:p>
          <a:p>
            <a:pPr algn="just">
              <a:lnSpc>
                <a:spcPct val="150000"/>
              </a:lnSpc>
            </a:pPr>
            <a:r>
              <a:rPr lang="en-US" b="1" dirty="0">
                <a:latin typeface="Times New Roman" panose="02020603050405020304" pitchFamily="18" charset="0"/>
                <a:cs typeface="Times New Roman" panose="02020603050405020304" pitchFamily="18" charset="0"/>
              </a:rPr>
              <a:t>Real-Time Tracking:</a:t>
            </a:r>
            <a:r>
              <a:rPr lang="en-US" dirty="0">
                <a:latin typeface="Times New Roman" panose="02020603050405020304" pitchFamily="18" charset="0"/>
                <a:cs typeface="Times New Roman" panose="02020603050405020304" pitchFamily="18" charset="0"/>
              </a:rPr>
              <a:t> Integrating GPS and IoT technologies for live order and delivery tracking</a:t>
            </a:r>
          </a:p>
          <a:p>
            <a:pPr algn="just">
              <a:lnSpc>
                <a:spcPct val="150000"/>
              </a:lnSpc>
            </a:pPr>
            <a:r>
              <a:rPr lang="en-US" b="1" dirty="0">
                <a:latin typeface="Times New Roman" panose="02020603050405020304" pitchFamily="18" charset="0"/>
                <a:cs typeface="Times New Roman" panose="02020603050405020304" pitchFamily="18" charset="0"/>
              </a:rPr>
              <a:t>Advanced Analytics: </a:t>
            </a:r>
            <a:r>
              <a:rPr lang="en-US" dirty="0">
                <a:latin typeface="Times New Roman" panose="02020603050405020304" pitchFamily="18" charset="0"/>
                <a:cs typeface="Times New Roman" panose="02020603050405020304" pitchFamily="18" charset="0"/>
              </a:rPr>
              <a:t>Using AI and data analytics to predict demand, optimize pricing, and reduce wastage.</a:t>
            </a:r>
          </a:p>
          <a:p>
            <a:pPr algn="l">
              <a:lnSpc>
                <a:spcPct val="150000"/>
              </a:lnSpc>
            </a:pPr>
            <a:endParaRPr lang="en-US" dirty="0">
              <a:latin typeface="Times New Roman" panose="02020603050405020304" pitchFamily="18" charset="0"/>
              <a:cs typeface="Times New Roman" panose="02020603050405020304" pitchFamily="18" charset="0"/>
            </a:endParaRPr>
          </a:p>
          <a:p>
            <a:pPr algn="l">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1599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92AD7-2F0C-3C0E-AE4B-244FC93D867F}"/>
              </a:ext>
            </a:extLst>
          </p:cNvPr>
          <p:cNvSpPr>
            <a:spLocks noGrp="1"/>
          </p:cNvSpPr>
          <p:nvPr>
            <p:ph type="ctrTitle"/>
          </p:nvPr>
        </p:nvSpPr>
        <p:spPr>
          <a:xfrm>
            <a:off x="1524000" y="114299"/>
            <a:ext cx="9144000" cy="1762125"/>
          </a:xfrm>
        </p:spPr>
        <p:txBody>
          <a:bodyPr>
            <a:normAutofit/>
          </a:bodyPr>
          <a:lstStyle/>
          <a:p>
            <a:r>
              <a:rPr lang="en-IN" sz="3200" b="1" dirty="0">
                <a:latin typeface="Times New Roman" panose="02020603050405020304" pitchFamily="18" charset="0"/>
                <a:cs typeface="Times New Roman" panose="02020603050405020304" pitchFamily="18" charset="0"/>
              </a:rPr>
              <a:t>CONCLUSION</a:t>
            </a:r>
            <a:br>
              <a:rPr lang="en-IN" b="1" dirty="0">
                <a:latin typeface="Times New Roman" panose="02020603050405020304" pitchFamily="18" charset="0"/>
                <a:cs typeface="Times New Roman" panose="02020603050405020304" pitchFamily="18" charset="0"/>
              </a:rPr>
            </a:br>
            <a:endParaRPr lang="en-IN" dirty="0"/>
          </a:p>
        </p:txBody>
      </p:sp>
      <p:sp>
        <p:nvSpPr>
          <p:cNvPr id="3" name="Subtitle 2">
            <a:extLst>
              <a:ext uri="{FF2B5EF4-FFF2-40B4-BE49-F238E27FC236}">
                <a16:creationId xmlns:a16="http://schemas.microsoft.com/office/drawing/2014/main" id="{BAB73EFA-25DD-03F1-1060-7860F262820C}"/>
              </a:ext>
            </a:extLst>
          </p:cNvPr>
          <p:cNvSpPr>
            <a:spLocks noGrp="1"/>
          </p:cNvSpPr>
          <p:nvPr>
            <p:ph type="subTitle" idx="1"/>
          </p:nvPr>
        </p:nvSpPr>
        <p:spPr>
          <a:xfrm>
            <a:off x="1057275" y="1066800"/>
            <a:ext cx="10039349" cy="5200650"/>
          </a:xfrm>
        </p:spPr>
        <p:txBody>
          <a:bodyPr>
            <a:normAutofit lnSpcReduction="10000"/>
          </a:bodyPr>
          <a:lstStyle/>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Smart Farm to Shop Management and Booking System presents a practical, transparent, and user-friendly platform that connects farmers and shopkeepers digitally.</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Using built-in complaint and solutions modules for once the transaction is completed, also allows for increased user trust through a structured complaint response capability. </a:t>
            </a:r>
            <a:endParaRPr lang="en-IN"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entire trading process has been simplified starting from the posting for product availability, negotiation of demand, booking and payment, and tracking</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72265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22341-EB05-240D-20D2-EB2F0DAF228F}"/>
              </a:ext>
            </a:extLst>
          </p:cNvPr>
          <p:cNvSpPr>
            <a:spLocks noGrp="1"/>
          </p:cNvSpPr>
          <p:nvPr>
            <p:ph type="ctrTitle"/>
          </p:nvPr>
        </p:nvSpPr>
        <p:spPr>
          <a:xfrm>
            <a:off x="1524000" y="258792"/>
            <a:ext cx="9144000" cy="802257"/>
          </a:xfrm>
        </p:spPr>
        <p:txBody>
          <a:bodyPr>
            <a:normAutofit/>
          </a:bodyPr>
          <a:lstStyle/>
          <a:p>
            <a:r>
              <a:rPr lang="en-IN" sz="3200" b="1" dirty="0">
                <a:latin typeface="Times New Roman" panose="02020603050405020304" pitchFamily="18" charset="0"/>
                <a:ea typeface="+mn-ea"/>
                <a:cs typeface="Times New Roman" panose="02020603050405020304" pitchFamily="18" charset="0"/>
              </a:rPr>
              <a:t>REFERENCE</a:t>
            </a:r>
          </a:p>
        </p:txBody>
      </p:sp>
      <p:sp>
        <p:nvSpPr>
          <p:cNvPr id="3" name="Subtitle 2">
            <a:extLst>
              <a:ext uri="{FF2B5EF4-FFF2-40B4-BE49-F238E27FC236}">
                <a16:creationId xmlns:a16="http://schemas.microsoft.com/office/drawing/2014/main" id="{94BAB05E-67F3-D302-FE8A-8327B2DCDB16}"/>
              </a:ext>
            </a:extLst>
          </p:cNvPr>
          <p:cNvSpPr>
            <a:spLocks noGrp="1"/>
          </p:cNvSpPr>
          <p:nvPr>
            <p:ph type="subTitle" idx="1"/>
          </p:nvPr>
        </p:nvSpPr>
        <p:spPr>
          <a:xfrm>
            <a:off x="897147" y="1181818"/>
            <a:ext cx="10644996" cy="4477110"/>
          </a:xfrm>
        </p:spPr>
        <p:txBody>
          <a:bodyPr/>
          <a:lstStyle/>
          <a:p>
            <a:pPr marL="342900" indent="-342900" algn="just">
              <a:lnSpc>
                <a:spcPct val="150000"/>
              </a:lnSpc>
              <a:spcAft>
                <a:spcPts val="1000"/>
              </a:spcAft>
              <a:buFont typeface="Arial" panose="020B0604020202020204" pitchFamily="34" charset="0"/>
              <a:buChar char="•"/>
            </a:pPr>
            <a:r>
              <a:rPr lang="en-US" dirty="0">
                <a:latin typeface="Times New Roman"/>
                <a:cs typeface="Times New Roman"/>
              </a:rPr>
              <a:t>Holzinger A. et al. — Human-Centered in Smart Farming: Toward Agriculture 5.0, IEEE Access, 2024.</a:t>
            </a:r>
          </a:p>
          <a:p>
            <a:pPr marL="342900" indent="-342900" algn="just">
              <a:lnSpc>
                <a:spcPct val="150000"/>
              </a:lnSpc>
              <a:spcAft>
                <a:spcPts val="1000"/>
              </a:spcAft>
              <a:buFont typeface="Arial" panose="020B0604020202020204" pitchFamily="34" charset="0"/>
              <a:buChar char="•"/>
            </a:pPr>
            <a:r>
              <a:rPr lang="en-US" dirty="0">
                <a:latin typeface="Times New Roman"/>
                <a:cs typeface="Times New Roman"/>
              </a:rPr>
              <a:t>Zhou R. &amp; Yin Y. — Digital Agriculture: Mapping Knowledge Structure and Trends, IEEE Access, 2023.</a:t>
            </a:r>
          </a:p>
          <a:p>
            <a:pPr marL="342900" indent="-342900" algn="just">
              <a:lnSpc>
                <a:spcPct val="150000"/>
              </a:lnSpc>
              <a:spcAft>
                <a:spcPts val="1000"/>
              </a:spcAft>
              <a:buFont typeface="Arial" panose="020B0604020202020204" pitchFamily="34" charset="0"/>
              <a:buChar char="•"/>
            </a:pPr>
            <a:r>
              <a:rPr lang="en-IN" dirty="0">
                <a:latin typeface="Times New Roman"/>
                <a:cs typeface="Times New Roman"/>
              </a:rPr>
              <a:t>Louta M. et al. — Emerging Technologies for Sustainable Agriculture, IEEE Access, 2024.</a:t>
            </a:r>
            <a:endParaRPr lang="en-US" dirty="0">
              <a:latin typeface="Times New Roman"/>
              <a:cs typeface="Times New Roman"/>
            </a:endParaRPr>
          </a:p>
        </p:txBody>
      </p:sp>
    </p:spTree>
    <p:extLst>
      <p:ext uri="{BB962C8B-B14F-4D97-AF65-F5344CB8AC3E}">
        <p14:creationId xmlns:p14="http://schemas.microsoft.com/office/powerpoint/2010/main" val="5425353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4355" y="1975987"/>
            <a:ext cx="7882759" cy="2023698"/>
          </a:xfrm>
        </p:spPr>
        <p:txBody>
          <a:bodyPr>
            <a:noAutofit/>
          </a:bodyPr>
          <a:lstStyle/>
          <a:p>
            <a:r>
              <a:rPr lang="en-US" sz="8800" b="1" dirty="0">
                <a:latin typeface="Times New Roman" panose="02020603050405020304" pitchFamily="18" charset="0"/>
                <a:cs typeface="Times New Roman" panose="02020603050405020304" pitchFamily="18" charset="0"/>
              </a:rPr>
              <a:t>THANK YOU</a:t>
            </a:r>
            <a:endParaRPr lang="en-IN" sz="8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sndAc>
          <p:stSnd>
            <p:snd r:embed="rId2" name="VOLTAGE.WAV"/>
          </p:stSnd>
        </p:sndAc>
      </p:transition>
    </mc:Choice>
    <mc:Fallback xmlns="">
      <p:transition spd="slow">
        <p:fade/>
        <p:sndAc>
          <p:stSnd>
            <p:snd r:embed="rId3" name="VOLTAGE.WAV"/>
          </p:stSnd>
        </p:sndAc>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Civic</Template>
  <TotalTime>1094</TotalTime>
  <Words>930</Words>
  <Application>Microsoft Office PowerPoint</Application>
  <PresentationFormat>Widescreen</PresentationFormat>
  <Paragraphs>118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PowerPoint Presentation</vt:lpstr>
      <vt:lpstr>AGENDA</vt:lpstr>
      <vt:lpstr>PowerPoint Presentation</vt:lpstr>
      <vt:lpstr>INTRODUCTION</vt:lpstr>
      <vt:lpstr>LITERATURE SURVEY</vt:lpstr>
      <vt:lpstr>SYSTEM ARCHITECTURE</vt:lpstr>
      <vt:lpstr>PowerPoint Presentation</vt:lpstr>
      <vt:lpstr>PowerPoint Presentation</vt:lpstr>
      <vt:lpstr>LIST OF MODULES</vt:lpstr>
      <vt:lpstr>OUTPUT SCREENSHOTS    </vt:lpstr>
      <vt:lpstr>OUTPUT SCREENSHOTS</vt:lpstr>
      <vt:lpstr>FUTURE ENHANCEMENT</vt:lpstr>
      <vt:lpstr>CONCLUSION </vt:lpstr>
      <vt:lpstr>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 REVIEW</dc:title>
  <dc:creator>Evil Heart</dc:creator>
  <cp:lastModifiedBy>Praveen R</cp:lastModifiedBy>
  <cp:revision>84</cp:revision>
  <dcterms:created xsi:type="dcterms:W3CDTF">2020-11-29T15:52:00Z</dcterms:created>
  <dcterms:modified xsi:type="dcterms:W3CDTF">2025-12-27T02:16:20Z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1033-11.2.0.9747</vt:lpwstr>
  </property>
</Properties>
</file>